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7569200" cy="10693400"/>
  <p:notesSz cx="75692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4954"/>
            <a:ext cx="6433820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88304"/>
            <a:ext cx="529844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460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8138" y="2459482"/>
            <a:ext cx="329260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460" y="427736"/>
            <a:ext cx="681228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460" y="2459482"/>
            <a:ext cx="681228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3528" y="9944862"/>
            <a:ext cx="242214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460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9824" y="9944862"/>
            <a:ext cx="1740916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2964" y="2009012"/>
            <a:ext cx="5636895" cy="711898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635">
              <a:lnSpc>
                <a:spcPts val="2350"/>
              </a:lnSpc>
              <a:spcBef>
                <a:spcPts val="90"/>
              </a:spcBef>
            </a:pPr>
            <a:r>
              <a:rPr dirty="0" sz="2000">
                <a:latin typeface="Times New Roman"/>
                <a:cs typeface="Times New Roman"/>
              </a:rPr>
              <a:t>SMART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CAMPUS</a:t>
            </a:r>
            <a:r>
              <a:rPr dirty="0" sz="2000" spc="-9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NETWORK</a:t>
            </a:r>
            <a:r>
              <a:rPr dirty="0" sz="2000" spc="-10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HEALTH</a:t>
            </a:r>
            <a:endParaRPr sz="2000">
              <a:latin typeface="Times New Roman"/>
              <a:cs typeface="Times New Roman"/>
            </a:endParaRPr>
          </a:p>
          <a:p>
            <a:pPr algn="ctr" marL="6350">
              <a:lnSpc>
                <a:spcPts val="2350"/>
              </a:lnSpc>
            </a:pPr>
            <a:r>
              <a:rPr dirty="0" sz="2000" spc="-10">
                <a:latin typeface="Times New Roman"/>
                <a:cs typeface="Times New Roman"/>
              </a:rPr>
              <a:t>MONITORING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DASHBOARD</a:t>
            </a:r>
            <a:endParaRPr sz="20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115"/>
              </a:spcBef>
            </a:pPr>
            <a:r>
              <a:rPr dirty="0" sz="1400" spc="-20" b="1">
                <a:latin typeface="Times New Roman"/>
                <a:cs typeface="Times New Roman"/>
              </a:rPr>
              <a:t>A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CAPSTONE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PROJECT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REPORT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b="1" i="1">
                <a:latin typeface="Times New Roman"/>
                <a:cs typeface="Times New Roman"/>
              </a:rPr>
              <a:t>A</a:t>
            </a:r>
            <a:r>
              <a:rPr dirty="0" sz="1400" spc="-50" b="1" i="1">
                <a:latin typeface="Times New Roman"/>
                <a:cs typeface="Times New Roman"/>
              </a:rPr>
              <a:t> </a:t>
            </a:r>
            <a:r>
              <a:rPr dirty="0" sz="1400" spc="-10" b="1" i="1">
                <a:latin typeface="Times New Roman"/>
                <a:cs typeface="Times New Roman"/>
              </a:rPr>
              <a:t>Capstone</a:t>
            </a:r>
            <a:r>
              <a:rPr dirty="0" sz="1400" spc="-4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Project</a:t>
            </a:r>
            <a:r>
              <a:rPr dirty="0" sz="1400" spc="-4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Report</a:t>
            </a:r>
            <a:r>
              <a:rPr dirty="0" sz="1400" spc="-30" b="1" i="1">
                <a:latin typeface="Times New Roman"/>
                <a:cs typeface="Times New Roman"/>
              </a:rPr>
              <a:t> </a:t>
            </a:r>
            <a:r>
              <a:rPr dirty="0" sz="1400" spc="-10" b="1" i="1">
                <a:latin typeface="Times New Roman"/>
                <a:cs typeface="Times New Roman"/>
              </a:rPr>
              <a:t>submitted</a:t>
            </a:r>
            <a:r>
              <a:rPr dirty="0" sz="1400" spc="-6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in</a:t>
            </a:r>
            <a:r>
              <a:rPr dirty="0" sz="1400" spc="-5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partial</a:t>
            </a:r>
            <a:r>
              <a:rPr dirty="0" sz="1400" spc="-60" b="1" i="1">
                <a:latin typeface="Times New Roman"/>
                <a:cs typeface="Times New Roman"/>
              </a:rPr>
              <a:t> </a:t>
            </a:r>
            <a:r>
              <a:rPr dirty="0" sz="1400" spc="-10" b="1" i="1">
                <a:latin typeface="Times New Roman"/>
                <a:cs typeface="Times New Roman"/>
              </a:rPr>
              <a:t>fulfilment</a:t>
            </a:r>
            <a:r>
              <a:rPr dirty="0" sz="1400" spc="-2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of</a:t>
            </a:r>
            <a:r>
              <a:rPr dirty="0" sz="1400" spc="-8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the</a:t>
            </a:r>
            <a:r>
              <a:rPr dirty="0" sz="1400" spc="-50" b="1" i="1">
                <a:latin typeface="Times New Roman"/>
                <a:cs typeface="Times New Roman"/>
              </a:rPr>
              <a:t> </a:t>
            </a:r>
            <a:r>
              <a:rPr dirty="0" sz="1400" spc="-10" b="1" i="1">
                <a:latin typeface="Times New Roman"/>
                <a:cs typeface="Times New Roman"/>
              </a:rPr>
              <a:t>requirements</a:t>
            </a:r>
            <a:endParaRPr sz="1400">
              <a:latin typeface="Times New Roman"/>
              <a:cs typeface="Times New Roman"/>
            </a:endParaRPr>
          </a:p>
          <a:p>
            <a:pPr algn="ctr" marL="2540">
              <a:lnSpc>
                <a:spcPct val="100000"/>
              </a:lnSpc>
              <a:spcBef>
                <a:spcPts val="50"/>
              </a:spcBef>
            </a:pPr>
            <a:r>
              <a:rPr dirty="0" sz="1400" b="1" i="1">
                <a:latin typeface="Times New Roman"/>
                <a:cs typeface="Times New Roman"/>
              </a:rPr>
              <a:t>for</a:t>
            </a:r>
            <a:r>
              <a:rPr dirty="0" sz="1400" spc="-4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the</a:t>
            </a:r>
            <a:r>
              <a:rPr dirty="0" sz="1400" spc="-4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Course</a:t>
            </a:r>
            <a:r>
              <a:rPr dirty="0" sz="1400" spc="-40" b="1" i="1">
                <a:latin typeface="Times New Roman"/>
                <a:cs typeface="Times New Roman"/>
              </a:rPr>
              <a:t> </a:t>
            </a:r>
            <a:r>
              <a:rPr dirty="0" sz="1400" spc="-25" b="1" i="1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600" spc="-45" b="1">
                <a:latin typeface="Times New Roman"/>
                <a:cs typeface="Times New Roman"/>
              </a:rPr>
              <a:t>CSA-</a:t>
            </a:r>
            <a:r>
              <a:rPr dirty="0" sz="1600" b="1">
                <a:latin typeface="Times New Roman"/>
                <a:cs typeface="Times New Roman"/>
              </a:rPr>
              <a:t>0704</a:t>
            </a:r>
            <a:r>
              <a:rPr dirty="0" sz="1600" spc="-3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-</a:t>
            </a:r>
            <a:r>
              <a:rPr dirty="0" sz="1600" spc="-6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Computer</a:t>
            </a:r>
            <a:r>
              <a:rPr dirty="0" sz="1600" spc="10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Networks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 marL="42545">
              <a:lnSpc>
                <a:spcPct val="100000"/>
              </a:lnSpc>
            </a:pPr>
            <a:r>
              <a:rPr dirty="0" sz="1400" b="1" i="1">
                <a:latin typeface="Times New Roman"/>
                <a:cs typeface="Times New Roman"/>
              </a:rPr>
              <a:t>to</a:t>
            </a:r>
            <a:r>
              <a:rPr dirty="0" sz="1400" spc="-7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the</a:t>
            </a:r>
            <a:r>
              <a:rPr dirty="0" sz="1400" spc="-4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award</a:t>
            </a:r>
            <a:r>
              <a:rPr dirty="0" sz="1400" spc="-65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of</a:t>
            </a:r>
            <a:r>
              <a:rPr dirty="0" sz="1400" spc="-7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the</a:t>
            </a:r>
            <a:r>
              <a:rPr dirty="0" sz="1400" spc="-40" b="1" i="1">
                <a:latin typeface="Times New Roman"/>
                <a:cs typeface="Times New Roman"/>
              </a:rPr>
              <a:t> </a:t>
            </a:r>
            <a:r>
              <a:rPr dirty="0" sz="1400" b="1" i="1">
                <a:latin typeface="Times New Roman"/>
                <a:cs typeface="Times New Roman"/>
              </a:rPr>
              <a:t>degree</a:t>
            </a:r>
            <a:r>
              <a:rPr dirty="0" sz="1400" spc="-35" b="1" i="1">
                <a:latin typeface="Times New Roman"/>
                <a:cs typeface="Times New Roman"/>
              </a:rPr>
              <a:t> </a:t>
            </a:r>
            <a:r>
              <a:rPr dirty="0" sz="1400" spc="-25" b="1" i="1">
                <a:latin typeface="Times New Roman"/>
                <a:cs typeface="Times New Roman"/>
              </a:rPr>
              <a:t>of</a:t>
            </a:r>
            <a:endParaRPr sz="1400">
              <a:latin typeface="Times New Roman"/>
              <a:cs typeface="Times New Roman"/>
            </a:endParaRPr>
          </a:p>
          <a:p>
            <a:pPr algn="ctr" marL="116205" marR="104775">
              <a:lnSpc>
                <a:spcPct val="150000"/>
              </a:lnSpc>
              <a:spcBef>
                <a:spcPts val="1105"/>
              </a:spcBef>
            </a:pPr>
            <a:r>
              <a:rPr dirty="0" sz="1400" b="1">
                <a:latin typeface="Times New Roman"/>
                <a:cs typeface="Times New Roman"/>
              </a:rPr>
              <a:t>BACHELOR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ENGINEERING</a:t>
            </a:r>
            <a:r>
              <a:rPr dirty="0" sz="1400" spc="-13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/</a:t>
            </a:r>
            <a:r>
              <a:rPr dirty="0" sz="1400" spc="114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BACHELOR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4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TECHNOLOGY </a:t>
            </a:r>
            <a:r>
              <a:rPr dirty="0" sz="1400" spc="-25" b="1">
                <a:latin typeface="Times New Roman"/>
                <a:cs typeface="Times New Roman"/>
              </a:rPr>
              <a:t>IN</a:t>
            </a:r>
            <a:endParaRPr sz="1400">
              <a:latin typeface="Times New Roman"/>
              <a:cs typeface="Times New Roman"/>
            </a:endParaRPr>
          </a:p>
          <a:p>
            <a:pPr algn="ctr" marR="106680">
              <a:lnSpc>
                <a:spcPct val="100000"/>
              </a:lnSpc>
              <a:spcBef>
                <a:spcPts val="1215"/>
              </a:spcBef>
            </a:pPr>
            <a:r>
              <a:rPr dirty="0" sz="1100" spc="-10" b="1">
                <a:latin typeface="Times New Roman"/>
                <a:cs typeface="Times New Roman"/>
              </a:rPr>
              <a:t>COMPUTER</a:t>
            </a:r>
            <a:r>
              <a:rPr dirty="0" sz="1100" spc="-125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SCIENCE</a:t>
            </a:r>
            <a:r>
              <a:rPr dirty="0" sz="1100" spc="-25" b="1">
                <a:latin typeface="Times New Roman"/>
                <a:cs typeface="Times New Roman"/>
              </a:rPr>
              <a:t> </a:t>
            </a:r>
            <a:r>
              <a:rPr dirty="0" sz="1100" b="1">
                <a:latin typeface="Times New Roman"/>
                <a:cs typeface="Times New Roman"/>
              </a:rPr>
              <a:t>AND</a:t>
            </a:r>
            <a:r>
              <a:rPr dirty="0" sz="1100" spc="-20" b="1">
                <a:latin typeface="Times New Roman"/>
                <a:cs typeface="Times New Roman"/>
              </a:rPr>
              <a:t> </a:t>
            </a:r>
            <a:r>
              <a:rPr dirty="0" sz="1100" spc="-10" b="1">
                <a:latin typeface="Times New Roman"/>
                <a:cs typeface="Times New Roman"/>
              </a:rPr>
              <a:t>ENGINEERING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20" b="1">
                <a:latin typeface="Times New Roman"/>
                <a:cs typeface="Times New Roman"/>
              </a:rPr>
              <a:t>Submitted</a:t>
            </a:r>
            <a:r>
              <a:rPr dirty="0" sz="1400" spc="-15" b="1">
                <a:latin typeface="Times New Roman"/>
                <a:cs typeface="Times New Roman"/>
              </a:rPr>
              <a:t> </a:t>
            </a:r>
            <a:r>
              <a:rPr dirty="0" sz="1400" spc="-25" b="1">
                <a:latin typeface="Times New Roman"/>
                <a:cs typeface="Times New Roman"/>
              </a:rPr>
              <a:t>by</a:t>
            </a:r>
            <a:endParaRPr sz="1400">
              <a:latin typeface="Times New Roman"/>
              <a:cs typeface="Times New Roman"/>
            </a:endParaRPr>
          </a:p>
          <a:p>
            <a:pPr algn="ctr" marL="222250">
              <a:lnSpc>
                <a:spcPct val="100000"/>
              </a:lnSpc>
              <a:spcBef>
                <a:spcPts val="900"/>
              </a:spcBef>
            </a:pPr>
            <a:r>
              <a:rPr dirty="0" sz="1100">
                <a:latin typeface="Times New Roman"/>
                <a:cs typeface="Times New Roman"/>
              </a:rPr>
              <a:t>Shylesh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Kumar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.S(1925260085)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1100">
              <a:latin typeface="Times New Roman"/>
              <a:cs typeface="Times New Roman"/>
            </a:endParaRPr>
          </a:p>
          <a:p>
            <a:pPr algn="ctr" marL="1673860" marR="1670050">
              <a:lnSpc>
                <a:spcPct val="150900"/>
              </a:lnSpc>
            </a:pPr>
            <a:r>
              <a:rPr dirty="0" sz="1100">
                <a:latin typeface="Times New Roman"/>
                <a:cs typeface="Times New Roman"/>
              </a:rPr>
              <a:t>Under</a:t>
            </a:r>
            <a:r>
              <a:rPr dirty="0" sz="1100" spc="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Supervision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Mr.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Jai</a:t>
            </a:r>
            <a:r>
              <a:rPr dirty="0" sz="1100" spc="-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Sharma </a:t>
            </a:r>
            <a:r>
              <a:rPr dirty="0" sz="1100" spc="-50">
                <a:latin typeface="Times New Roman"/>
                <a:cs typeface="Times New Roman"/>
              </a:rPr>
              <a:t>K</a:t>
            </a:r>
            <a:endParaRPr sz="11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  <a:spcBef>
                <a:spcPts val="1225"/>
              </a:spcBef>
            </a:pPr>
            <a:r>
              <a:rPr dirty="0" sz="1600" spc="-30" b="1">
                <a:latin typeface="Times New Roman"/>
                <a:cs typeface="Times New Roman"/>
              </a:rPr>
              <a:t>SIMATS</a:t>
            </a:r>
            <a:r>
              <a:rPr dirty="0" sz="1600" spc="-5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ENGINEERING</a:t>
            </a: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400" spc="-20" b="1">
                <a:latin typeface="Times New Roman"/>
                <a:cs typeface="Times New Roman"/>
              </a:rPr>
              <a:t>Saveetha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Institute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Medical</a:t>
            </a:r>
            <a:r>
              <a:rPr dirty="0" sz="1400" spc="-10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Technical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Sciences</a:t>
            </a:r>
            <a:endParaRPr sz="14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840"/>
              </a:spcBef>
            </a:pPr>
            <a:r>
              <a:rPr dirty="0" sz="1400" spc="-50" b="1">
                <a:latin typeface="Times New Roman"/>
                <a:cs typeface="Times New Roman"/>
              </a:rPr>
              <a:t>Chennai-</a:t>
            </a:r>
            <a:r>
              <a:rPr dirty="0" sz="1400" spc="-10" b="1">
                <a:latin typeface="Times New Roman"/>
                <a:cs typeface="Times New Roman"/>
              </a:rPr>
              <a:t>602105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7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00" spc="-10" b="1">
                <a:latin typeface="Times New Roman"/>
                <a:cs typeface="Times New Roman"/>
              </a:rPr>
              <a:t>SEPTEMBER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688" y="926591"/>
            <a:ext cx="5724144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738293"/>
            <a:ext cx="5770880" cy="361442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65"/>
              </a:spcBef>
            </a:pPr>
            <a:r>
              <a:rPr dirty="0" sz="2200" spc="-30" b="1">
                <a:latin typeface="Times New Roman"/>
                <a:cs typeface="Times New Roman"/>
              </a:rPr>
              <a:t>SIMATS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  <a:p>
            <a:pPr algn="ctr" marL="915035" marR="919480">
              <a:lnSpc>
                <a:spcPts val="2520"/>
              </a:lnSpc>
              <a:spcBef>
                <a:spcPts val="40"/>
              </a:spcBef>
            </a:pPr>
            <a:r>
              <a:rPr dirty="0" sz="1400" spc="-20" b="1">
                <a:latin typeface="Times New Roman"/>
                <a:cs typeface="Times New Roman"/>
              </a:rPr>
              <a:t>Saveetha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Institute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Medical</a:t>
            </a:r>
            <a:r>
              <a:rPr dirty="0" sz="1400" spc="-10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Technical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Sciences </a:t>
            </a:r>
            <a:r>
              <a:rPr dirty="0" sz="1400" spc="-50" b="1">
                <a:latin typeface="Times New Roman"/>
                <a:cs typeface="Times New Roman"/>
              </a:rPr>
              <a:t>Chennai-</a:t>
            </a:r>
            <a:r>
              <a:rPr dirty="0" sz="1400" spc="-10" b="1">
                <a:latin typeface="Times New Roman"/>
                <a:cs typeface="Times New Roman"/>
              </a:rPr>
              <a:t>602105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635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BONAFIDE</a:t>
            </a:r>
            <a:r>
              <a:rPr dirty="0" sz="2000" spc="-10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CERTIFICATE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43800"/>
              </a:lnSpc>
            </a:pP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certify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Capstone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entitled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"Smart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 </a:t>
            </a:r>
            <a:r>
              <a:rPr dirty="0" sz="1200">
                <a:latin typeface="Times New Roman"/>
                <a:cs typeface="Times New Roman"/>
              </a:rPr>
              <a:t>Monitoring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Dashboard"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carried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Shylesh</a:t>
            </a:r>
            <a:r>
              <a:rPr dirty="0" sz="1200" spc="19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Kumar.S</a:t>
            </a:r>
            <a:r>
              <a:rPr dirty="0" sz="1200">
                <a:latin typeface="Times New Roman"/>
                <a:cs typeface="Times New Roman"/>
              </a:rPr>
              <a:t>(Reg.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No:1925260085) </a:t>
            </a:r>
            <a:r>
              <a:rPr dirty="0" sz="1200">
                <a:latin typeface="Times New Roman"/>
                <a:cs typeface="Times New Roman"/>
              </a:rPr>
              <a:t>under</a:t>
            </a:r>
            <a:r>
              <a:rPr dirty="0" sz="1200" spc="25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supervision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Mr.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Jai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Sharma</a:t>
            </a:r>
            <a:r>
              <a:rPr dirty="0" sz="1200" spc="2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2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submitted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partial</a:t>
            </a:r>
            <a:r>
              <a:rPr dirty="0" sz="1200" spc="2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fulfilment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requirements</a:t>
            </a:r>
            <a:r>
              <a:rPr dirty="0" sz="1200" spc="4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3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current</a:t>
            </a:r>
            <a:r>
              <a:rPr dirty="0" sz="1200" spc="4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semester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B.E.</a:t>
            </a:r>
            <a:r>
              <a:rPr dirty="0" sz="1200" spc="3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</a:t>
            </a:r>
            <a:r>
              <a:rPr dirty="0" sz="1200" spc="3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3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Engineering program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Saveetha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Medical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Technical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Sciences,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Chennai.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5434075"/>
            <a:ext cx="1872614" cy="132715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200" b="1">
                <a:latin typeface="Times New Roman"/>
                <a:cs typeface="Times New Roman"/>
              </a:rPr>
              <a:t>COURSE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COORDINATOR</a:t>
            </a:r>
            <a:endParaRPr sz="1200">
              <a:latin typeface="Times New Roman"/>
              <a:cs typeface="Times New Roman"/>
            </a:endParaRPr>
          </a:p>
          <a:p>
            <a:pPr marL="12700" marR="1030605">
              <a:lnSpc>
                <a:spcPct val="101699"/>
              </a:lnSpc>
              <a:spcBef>
                <a:spcPts val="720"/>
              </a:spcBef>
            </a:pPr>
            <a:r>
              <a:rPr dirty="0" sz="1200" b="1">
                <a:latin typeface="Times New Roman"/>
                <a:cs typeface="Times New Roman"/>
              </a:rPr>
              <a:t>Title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35" b="1">
                <a:latin typeface="Times New Roman"/>
                <a:cs typeface="Times New Roman"/>
              </a:rPr>
              <a:t>Name, </a:t>
            </a:r>
            <a:r>
              <a:rPr dirty="0" sz="1200" spc="-10" b="1">
                <a:latin typeface="Times New Roman"/>
                <a:cs typeface="Times New Roman"/>
              </a:rPr>
              <a:t>Designation</a:t>
            </a:r>
            <a:endParaRPr sz="1200">
              <a:latin typeface="Times New Roman"/>
              <a:cs typeface="Times New Roman"/>
            </a:endParaRPr>
          </a:p>
          <a:p>
            <a:pPr marL="12700" marR="11430">
              <a:lnSpc>
                <a:spcPct val="101699"/>
              </a:lnSpc>
              <a:spcBef>
                <a:spcPts val="25"/>
              </a:spcBef>
            </a:pPr>
            <a:r>
              <a:rPr dirty="0" sz="1200" b="1">
                <a:latin typeface="Times New Roman"/>
                <a:cs typeface="Times New Roman"/>
              </a:rPr>
              <a:t>Branch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Department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Name </a:t>
            </a:r>
            <a:r>
              <a:rPr dirty="0" sz="1200" spc="-10" b="1">
                <a:latin typeface="Times New Roman"/>
                <a:cs typeface="Times New Roman"/>
              </a:rPr>
              <a:t>SIMATS</a:t>
            </a:r>
            <a:r>
              <a:rPr dirty="0" sz="1200" spc="-10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Engineering, SIMATS,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Chennai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602105.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1011" y="5434075"/>
            <a:ext cx="1866264" cy="132715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33655">
              <a:lnSpc>
                <a:spcPct val="100000"/>
              </a:lnSpc>
              <a:spcBef>
                <a:spcPts val="840"/>
              </a:spcBef>
            </a:pPr>
            <a:r>
              <a:rPr dirty="0" sz="1200" b="1">
                <a:latin typeface="Times New Roman"/>
                <a:cs typeface="Times New Roman"/>
              </a:rPr>
              <a:t>COURSE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FACULTY</a:t>
            </a:r>
            <a:endParaRPr sz="1200">
              <a:latin typeface="Times New Roman"/>
              <a:cs typeface="Times New Roman"/>
            </a:endParaRPr>
          </a:p>
          <a:p>
            <a:pPr marL="33655" marR="1002030">
              <a:lnSpc>
                <a:spcPct val="101699"/>
              </a:lnSpc>
              <a:spcBef>
                <a:spcPts val="720"/>
              </a:spcBef>
            </a:pPr>
            <a:r>
              <a:rPr dirty="0" sz="1200" b="1">
                <a:latin typeface="Times New Roman"/>
                <a:cs typeface="Times New Roman"/>
              </a:rPr>
              <a:t>Title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35" b="1">
                <a:latin typeface="Times New Roman"/>
                <a:cs typeface="Times New Roman"/>
              </a:rPr>
              <a:t>Name, </a:t>
            </a:r>
            <a:r>
              <a:rPr dirty="0" sz="1200" spc="-10" b="1">
                <a:latin typeface="Times New Roman"/>
                <a:cs typeface="Times New Roman"/>
              </a:rPr>
              <a:t>Designation</a:t>
            </a:r>
            <a:endParaRPr sz="1200">
              <a:latin typeface="Times New Roman"/>
              <a:cs typeface="Times New Roman"/>
            </a:endParaRPr>
          </a:p>
          <a:p>
            <a:pPr marL="12700" marR="5080" indent="20955">
              <a:lnSpc>
                <a:spcPct val="101699"/>
              </a:lnSpc>
              <a:spcBef>
                <a:spcPts val="25"/>
              </a:spcBef>
            </a:pPr>
            <a:r>
              <a:rPr dirty="0" sz="1200" b="1">
                <a:latin typeface="Times New Roman"/>
                <a:cs typeface="Times New Roman"/>
              </a:rPr>
              <a:t>Branch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Department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Name </a:t>
            </a:r>
            <a:r>
              <a:rPr dirty="0" sz="1200" spc="-10" b="1">
                <a:latin typeface="Times New Roman"/>
                <a:cs typeface="Times New Roman"/>
              </a:rPr>
              <a:t>SIMATS</a:t>
            </a:r>
            <a:r>
              <a:rPr dirty="0" sz="1200" spc="-9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Engineering, </a:t>
            </a:r>
            <a:r>
              <a:rPr dirty="0" sz="1200" b="1">
                <a:latin typeface="Times New Roman"/>
                <a:cs typeface="Times New Roman"/>
              </a:rPr>
              <a:t>SIMATS,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Chennai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602105.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689893"/>
            <a:ext cx="5773420" cy="5592445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1545"/>
              </a:spcBef>
            </a:pPr>
            <a:r>
              <a:rPr dirty="0" sz="2200" spc="-30" b="1">
                <a:latin typeface="Times New Roman"/>
                <a:cs typeface="Times New Roman"/>
              </a:rPr>
              <a:t>SIMATS</a:t>
            </a:r>
            <a:r>
              <a:rPr dirty="0" sz="2200" spc="-110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  <a:p>
            <a:pPr algn="ctr" marL="918210" marR="918844">
              <a:lnSpc>
                <a:spcPts val="2690"/>
              </a:lnSpc>
              <a:spcBef>
                <a:spcPts val="145"/>
              </a:spcBef>
            </a:pPr>
            <a:r>
              <a:rPr dirty="0" sz="1400" spc="-20" b="1">
                <a:latin typeface="Times New Roman"/>
                <a:cs typeface="Times New Roman"/>
              </a:rPr>
              <a:t>Saveetha</a:t>
            </a:r>
            <a:r>
              <a:rPr dirty="0" sz="1400" spc="-8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Institute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Medical</a:t>
            </a:r>
            <a:r>
              <a:rPr dirty="0" sz="1400" spc="-10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Technical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Sciences </a:t>
            </a:r>
            <a:r>
              <a:rPr dirty="0" sz="1400" spc="-50" b="1">
                <a:latin typeface="Times New Roman"/>
                <a:cs typeface="Times New Roman"/>
              </a:rPr>
              <a:t>Chennai-</a:t>
            </a:r>
            <a:r>
              <a:rPr dirty="0" sz="1400" spc="-10" b="1">
                <a:latin typeface="Times New Roman"/>
                <a:cs typeface="Times New Roman"/>
              </a:rPr>
              <a:t>602105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1905">
              <a:lnSpc>
                <a:spcPct val="100000"/>
              </a:lnSpc>
            </a:pPr>
            <a:r>
              <a:rPr dirty="0" sz="2000" spc="-10" b="1">
                <a:latin typeface="Times New Roman"/>
                <a:cs typeface="Times New Roman"/>
              </a:rPr>
              <a:t>DECLARATION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2000">
              <a:latin typeface="Times New Roman"/>
              <a:cs typeface="Times New Roman"/>
            </a:endParaRPr>
          </a:p>
          <a:p>
            <a:pPr algn="just" marL="12700" marR="5080" indent="456565">
              <a:lnSpc>
                <a:spcPct val="144100"/>
              </a:lnSpc>
            </a:pPr>
            <a:r>
              <a:rPr dirty="0" sz="1200">
                <a:latin typeface="Times New Roman"/>
                <a:cs typeface="Times New Roman"/>
              </a:rPr>
              <a:t>I,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Shylesh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Kumar.S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Computer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Department,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SIMATS </a:t>
            </a:r>
            <a:r>
              <a:rPr dirty="0" sz="1200">
                <a:latin typeface="Times New Roman"/>
                <a:cs typeface="Times New Roman"/>
              </a:rPr>
              <a:t>Engineering,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Saveetha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Medical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Technical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Sciences,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Chennai,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hereby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declare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4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Capstone</a:t>
            </a:r>
            <a:r>
              <a:rPr dirty="0" sz="1200" spc="4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100">
                <a:latin typeface="Times New Roman"/>
                <a:cs typeface="Times New Roman"/>
              </a:rPr>
              <a:t> 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40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entitled</a:t>
            </a:r>
            <a:r>
              <a:rPr dirty="0" sz="1200" spc="4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"Smart</a:t>
            </a:r>
            <a:r>
              <a:rPr dirty="0" sz="1200" spc="4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4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4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409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 </a:t>
            </a:r>
            <a:r>
              <a:rPr dirty="0" sz="1200">
                <a:latin typeface="Times New Roman"/>
                <a:cs typeface="Times New Roman"/>
              </a:rPr>
              <a:t>Dashboard"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result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own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bonafide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efforts.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best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my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knowledge,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work </a:t>
            </a:r>
            <a:r>
              <a:rPr dirty="0" sz="1200">
                <a:latin typeface="Times New Roman"/>
                <a:cs typeface="Times New Roman"/>
              </a:rPr>
              <a:t>presented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herein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original,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accurate,</a:t>
            </a:r>
            <a:r>
              <a:rPr dirty="0" sz="1200" spc="3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</a:t>
            </a:r>
            <a:r>
              <a:rPr dirty="0" sz="1200" spc="2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carried</a:t>
            </a:r>
            <a:r>
              <a:rPr dirty="0" sz="1200" spc="3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</a:t>
            </a:r>
            <a:r>
              <a:rPr dirty="0" sz="1200" spc="3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2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accordance</a:t>
            </a:r>
            <a:r>
              <a:rPr dirty="0" sz="1200" spc="2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principles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1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ethics</a:t>
            </a:r>
            <a:r>
              <a:rPr dirty="0" sz="1200" spc="1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academic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integrity.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All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sources,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references,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other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materials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1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appropriately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acknowledged.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further</a:t>
            </a:r>
            <a:r>
              <a:rPr dirty="0" sz="1200" spc="1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declare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results,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analysis,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findings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presented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fabricated, </a:t>
            </a:r>
            <a:r>
              <a:rPr dirty="0" sz="1200">
                <a:latin typeface="Times New Roman"/>
                <a:cs typeface="Times New Roman"/>
              </a:rPr>
              <a:t>falsified,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manipulated.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Any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external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software,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datasets,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computational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resources,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or </a:t>
            </a:r>
            <a:r>
              <a:rPr dirty="0" sz="1200" spc="-10">
                <a:latin typeface="Times New Roman"/>
                <a:cs typeface="Times New Roman"/>
              </a:rPr>
              <a:t>AI-</a:t>
            </a:r>
            <a:r>
              <a:rPr dirty="0" sz="1200">
                <a:latin typeface="Times New Roman"/>
                <a:cs typeface="Times New Roman"/>
              </a:rPr>
              <a:t>assisted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during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appropriately disclosed.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confirm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all </a:t>
            </a:r>
            <a:r>
              <a:rPr dirty="0" sz="1200">
                <a:latin typeface="Times New Roman"/>
                <a:cs typeface="Times New Roman"/>
              </a:rPr>
              <a:t>applicable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ethical,</a:t>
            </a:r>
            <a:r>
              <a:rPr dirty="0" sz="1200" spc="2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academic,</a:t>
            </a:r>
            <a:r>
              <a:rPr dirty="0" sz="1200" spc="2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institutional,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professional</a:t>
            </a:r>
            <a:r>
              <a:rPr dirty="0" sz="1200" spc="2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requirements</a:t>
            </a:r>
            <a:r>
              <a:rPr dirty="0" sz="1200" spc="2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have</a:t>
            </a:r>
            <a:r>
              <a:rPr dirty="0" sz="1200" spc="2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been</a:t>
            </a:r>
            <a:r>
              <a:rPr dirty="0" sz="1200" spc="229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duly </a:t>
            </a:r>
            <a:r>
              <a:rPr dirty="0" sz="1200" spc="-10">
                <a:latin typeface="Times New Roman"/>
                <a:cs typeface="Times New Roman"/>
              </a:rPr>
              <a:t>followed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throughout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planning,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execution,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analysis,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documentation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929425"/>
            <a:ext cx="119634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7100"/>
              </a:lnSpc>
              <a:spcBef>
                <a:spcPts val="100"/>
              </a:spcBef>
            </a:pPr>
            <a:r>
              <a:rPr dirty="0" sz="1400" spc="-10" b="1">
                <a:latin typeface="Times New Roman"/>
                <a:cs typeface="Times New Roman"/>
              </a:rPr>
              <a:t>Place: </a:t>
            </a:r>
            <a:r>
              <a:rPr dirty="0" sz="1400" spc="-40" b="1">
                <a:latin typeface="Times New Roman"/>
                <a:cs typeface="Times New Roman"/>
              </a:rPr>
              <a:t>Date:03/09/2026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78377" y="8216659"/>
            <a:ext cx="2002789" cy="429259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281305">
              <a:lnSpc>
                <a:spcPct val="100000"/>
              </a:lnSpc>
              <a:spcBef>
                <a:spcPts val="195"/>
              </a:spcBef>
            </a:pPr>
            <a:r>
              <a:rPr dirty="0" sz="1400" spc="-10" b="1">
                <a:latin typeface="Times New Roman"/>
                <a:cs typeface="Times New Roman"/>
              </a:rPr>
              <a:t>Shylesh</a:t>
            </a:r>
            <a:r>
              <a:rPr dirty="0" sz="1400" spc="-3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Kumar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100">
                <a:latin typeface="Times New Roman"/>
                <a:cs typeface="Times New Roman"/>
              </a:rPr>
              <a:t>Signature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Student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Name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04797" y="689893"/>
            <a:ext cx="3954145" cy="2162810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45"/>
              </a:spcBef>
            </a:pPr>
            <a:r>
              <a:rPr dirty="0" sz="2200" spc="-30" b="1">
                <a:latin typeface="Times New Roman"/>
                <a:cs typeface="Times New Roman"/>
              </a:rPr>
              <a:t>SIMATS</a:t>
            </a:r>
            <a:r>
              <a:rPr dirty="0" sz="2200" spc="-114" b="1">
                <a:latin typeface="Times New Roman"/>
                <a:cs typeface="Times New Roman"/>
              </a:rPr>
              <a:t> </a:t>
            </a:r>
            <a:r>
              <a:rPr dirty="0" sz="2200" spc="-10" b="1">
                <a:latin typeface="Times New Roman"/>
                <a:cs typeface="Times New Roman"/>
              </a:rPr>
              <a:t>ENGINEERING</a:t>
            </a:r>
            <a:endParaRPr sz="2200">
              <a:latin typeface="Times New Roman"/>
              <a:cs typeface="Times New Roman"/>
            </a:endParaRPr>
          </a:p>
          <a:p>
            <a:pPr algn="ctr" marL="12700" marR="5080">
              <a:lnSpc>
                <a:spcPts val="2690"/>
              </a:lnSpc>
              <a:spcBef>
                <a:spcPts val="145"/>
              </a:spcBef>
            </a:pPr>
            <a:r>
              <a:rPr dirty="0" sz="1400" spc="-20" b="1">
                <a:latin typeface="Times New Roman"/>
                <a:cs typeface="Times New Roman"/>
              </a:rPr>
              <a:t>Saveetha</a:t>
            </a:r>
            <a:r>
              <a:rPr dirty="0" sz="1400" spc="-8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Institute</a:t>
            </a:r>
            <a:r>
              <a:rPr dirty="0" sz="1400" spc="-2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Medical</a:t>
            </a:r>
            <a:r>
              <a:rPr dirty="0" sz="1400" spc="-10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and</a:t>
            </a:r>
            <a:r>
              <a:rPr dirty="0" sz="1400" spc="-25" b="1">
                <a:latin typeface="Times New Roman"/>
                <a:cs typeface="Times New Roman"/>
              </a:rPr>
              <a:t> </a:t>
            </a:r>
            <a:r>
              <a:rPr dirty="0" sz="1400" spc="-20" b="1">
                <a:latin typeface="Times New Roman"/>
                <a:cs typeface="Times New Roman"/>
              </a:rPr>
              <a:t>Technical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Sciences </a:t>
            </a:r>
            <a:r>
              <a:rPr dirty="0" sz="1400" spc="-50" b="1">
                <a:latin typeface="Times New Roman"/>
                <a:cs typeface="Times New Roman"/>
              </a:rPr>
              <a:t>Chennai-</a:t>
            </a:r>
            <a:r>
              <a:rPr dirty="0" sz="1400" spc="-10" b="1">
                <a:latin typeface="Times New Roman"/>
                <a:cs typeface="Times New Roman"/>
              </a:rPr>
              <a:t>602105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L="190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Individual</a:t>
            </a:r>
            <a:r>
              <a:rPr dirty="0" sz="2000" spc="-20" b="1">
                <a:latin typeface="Times New Roman"/>
                <a:cs typeface="Times New Roman"/>
              </a:rPr>
              <a:t> Contribution</a:t>
            </a:r>
            <a:r>
              <a:rPr dirty="0" sz="2000" spc="-1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Statement</a:t>
            </a:r>
            <a:endParaRPr sz="2000">
              <a:latin typeface="Times New Roman"/>
              <a:cs typeface="Times New Roman"/>
            </a:endParaRPr>
          </a:p>
          <a:p>
            <a:pPr algn="ctr" marL="3175">
              <a:lnSpc>
                <a:spcPct val="100000"/>
              </a:lnSpc>
              <a:spcBef>
                <a:spcPts val="1525"/>
              </a:spcBef>
            </a:pPr>
            <a:r>
              <a:rPr dirty="0" sz="1200" spc="-10" b="1">
                <a:latin typeface="Times New Roman"/>
                <a:cs typeface="Times New Roman"/>
              </a:rPr>
              <a:t>(Individual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capstone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-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single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student)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354" y="3347338"/>
          <a:ext cx="6094095" cy="3446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2630"/>
                <a:gridCol w="1192530"/>
                <a:gridCol w="1027430"/>
                <a:gridCol w="1030605"/>
                <a:gridCol w="1016000"/>
                <a:gridCol w="1016000"/>
              </a:tblGrid>
              <a:tr h="1256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5570" marR="79375" indent="-10795">
                        <a:lnSpc>
                          <a:spcPct val="1101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Student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/ 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Register 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95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R="317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0965" marR="76200" indent="249554">
                        <a:lnSpc>
                          <a:spcPct val="1117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Specific Responsibilities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0" marR="74295" indent="124460">
                        <a:lnSpc>
                          <a:spcPct val="11010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Development Contribution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99060" marR="74295" indent="3175">
                        <a:lnSpc>
                          <a:spcPct val="110100"/>
                        </a:lnSpc>
                      </a:pP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Analysis Contribution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048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3820" marR="74295" indent="198120">
                        <a:lnSpc>
                          <a:spcPct val="1100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Report Contribution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4604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Approx.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9209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Contribution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2730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(%)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441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541145">
                <a:tc>
                  <a:txBody>
                    <a:bodyPr/>
                    <a:lstStyle/>
                    <a:p>
                      <a:pPr marL="6350" marR="10160">
                        <a:lnSpc>
                          <a:spcPct val="99200"/>
                        </a:lnSpc>
                        <a:spcBef>
                          <a:spcPts val="109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Shylesh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1925260085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90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6350">
                        <a:lnSpc>
                          <a:spcPct val="99100"/>
                        </a:lnSpc>
                        <a:spcBef>
                          <a:spcPts val="30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1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–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1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6350" marR="3175">
                        <a:lnSpc>
                          <a:spcPts val="12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integration,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UI/UX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7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76835">
                        <a:lnSpc>
                          <a:spcPct val="96500"/>
                        </a:lnSpc>
                        <a:spcBef>
                          <a:spcPts val="229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developed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React-based dashboard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UI,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chart/visualisatio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components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API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integration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54610">
                        <a:lnSpc>
                          <a:spcPct val="96000"/>
                        </a:lnSpc>
                        <a:spcBef>
                          <a:spcPts val="108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Conducted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responsiveness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testing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against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simulated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77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Chapters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31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(3.5),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(4.2,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4.3,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31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4.6),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100%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48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1295">
                        <a:lnSpc>
                          <a:spcPct val="10000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Total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100%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61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6041390" cy="7477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6543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ABSTRACT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 indent="36195">
              <a:lnSpc>
                <a:spcPct val="193000"/>
              </a:lnSpc>
            </a:pPr>
            <a:r>
              <a:rPr dirty="0" sz="1200" spc="-10">
                <a:latin typeface="Times New Roman"/>
                <a:cs typeface="Times New Roman"/>
              </a:rPr>
              <a:t>University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campuses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large,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heterogeneous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infrastructure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switches,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wireless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servers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academic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administrative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operations,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yet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SIMATS Engineering's</a:t>
            </a:r>
            <a:r>
              <a:rPr dirty="0" sz="1200">
                <a:latin typeface="Times New Roman"/>
                <a:cs typeface="Times New Roman"/>
              </a:rPr>
              <a:t> IT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currently has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consolidated,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infrastructure's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instead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relies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manual,</a:t>
            </a:r>
            <a:r>
              <a:rPr dirty="0" sz="1200" spc="-10">
                <a:latin typeface="Times New Roman"/>
                <a:cs typeface="Times New Roman"/>
              </a:rPr>
              <a:t> ad-</a:t>
            </a:r>
            <a:r>
              <a:rPr dirty="0" sz="1200">
                <a:latin typeface="Times New Roman"/>
                <a:cs typeface="Times New Roman"/>
              </a:rPr>
              <a:t>hoc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checks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surface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faults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only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after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complain.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This </a:t>
            </a:r>
            <a:r>
              <a:rPr dirty="0" sz="1200">
                <a:latin typeface="Times New Roman"/>
                <a:cs typeface="Times New Roman"/>
              </a:rPr>
              <a:t>creates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clear</a:t>
            </a:r>
            <a:r>
              <a:rPr dirty="0" sz="1200" spc="-10">
                <a:latin typeface="Times New Roman"/>
                <a:cs typeface="Times New Roman"/>
              </a:rPr>
              <a:t> engineering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lightweight,</a:t>
            </a:r>
            <a:r>
              <a:rPr dirty="0" sz="1200">
                <a:latin typeface="Times New Roman"/>
                <a:cs typeface="Times New Roman"/>
              </a:rPr>
              <a:t> proactive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monitoring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solution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does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not </a:t>
            </a:r>
            <a:r>
              <a:rPr dirty="0" sz="1200">
                <a:latin typeface="Times New Roman"/>
                <a:cs typeface="Times New Roman"/>
              </a:rPr>
              <a:t>require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costly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commercial </a:t>
            </a:r>
            <a:r>
              <a:rPr dirty="0" sz="1200" spc="-10">
                <a:latin typeface="Times New Roman"/>
                <a:cs typeface="Times New Roman"/>
              </a:rPr>
              <a:t>licensing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off-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sharing.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 capstone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implements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Smart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Monitoring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Dashboard: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three-</a:t>
            </a:r>
            <a:r>
              <a:rPr dirty="0" sz="1200">
                <a:latin typeface="Times New Roman"/>
                <a:cs typeface="Times New Roman"/>
              </a:rPr>
              <a:t>tier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application comprising</a:t>
            </a:r>
            <a:r>
              <a:rPr dirty="0" sz="1200">
                <a:latin typeface="Times New Roman"/>
                <a:cs typeface="Times New Roman"/>
              </a:rPr>
              <a:t> an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SNMP/ICMP-</a:t>
            </a:r>
            <a:r>
              <a:rPr dirty="0" sz="1200" spc="-20">
                <a:latin typeface="Times New Roman"/>
                <a:cs typeface="Times New Roman"/>
              </a:rPr>
              <a:t>based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polling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service,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database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layer,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a </a:t>
            </a:r>
            <a:r>
              <a:rPr dirty="0" sz="1200">
                <a:latin typeface="Times New Roman"/>
                <a:cs typeface="Times New Roman"/>
              </a:rPr>
              <a:t>responsive,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React-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front-end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visualises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status,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latency,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packet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loss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bandwidth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utilisation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using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live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charts,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traffic-</a:t>
            </a:r>
            <a:r>
              <a:rPr dirty="0" sz="1200">
                <a:latin typeface="Times New Roman"/>
                <a:cs typeface="Times New Roman"/>
              </a:rPr>
              <a:t>light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 </a:t>
            </a:r>
            <a:r>
              <a:rPr dirty="0" sz="1200" spc="-20">
                <a:latin typeface="Times New Roman"/>
                <a:cs typeface="Times New Roman"/>
              </a:rPr>
              <a:t>classification.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methodology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followed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iterative,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Agile-</a:t>
            </a:r>
            <a:r>
              <a:rPr dirty="0" sz="1200">
                <a:latin typeface="Times New Roman"/>
                <a:cs typeface="Times New Roman"/>
              </a:rPr>
              <a:t>inspired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development</a:t>
            </a:r>
            <a:r>
              <a:rPr dirty="0" sz="1200" spc="11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approach, building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data-</a:t>
            </a:r>
            <a:r>
              <a:rPr dirty="0" sz="1200" spc="-20">
                <a:latin typeface="Times New Roman"/>
                <a:cs typeface="Times New Roman"/>
              </a:rPr>
              <a:t>collection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layers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first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before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incrementally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developing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 spc="-10">
                <a:latin typeface="Times New Roman"/>
                <a:cs typeface="Times New Roman"/>
              </a:rPr>
              <a:t>dashboard's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UI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against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live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network.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Testing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against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simulated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link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failures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bandwidth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fluctuations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showed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correctly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detects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visualises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faults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within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 spc="-10">
                <a:latin typeface="Times New Roman"/>
                <a:cs typeface="Times New Roman"/>
              </a:rPr>
              <a:t>configured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polling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interval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while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remaining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responsive</a:t>
            </a:r>
            <a:r>
              <a:rPr dirty="0" sz="1200">
                <a:latin typeface="Times New Roman"/>
                <a:cs typeface="Times New Roman"/>
              </a:rPr>
              <a:t> under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continuous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live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updates.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results </a:t>
            </a:r>
            <a:r>
              <a:rPr dirty="0" sz="1200" spc="-20">
                <a:latin typeface="Times New Roman"/>
                <a:cs typeface="Times New Roman"/>
              </a:rPr>
              <a:t>confirm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 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lightweight,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55">
                <a:latin typeface="Times New Roman"/>
                <a:cs typeface="Times New Roman"/>
              </a:rPr>
              <a:t>self-</a:t>
            </a:r>
            <a:r>
              <a:rPr dirty="0" sz="1200">
                <a:latin typeface="Times New Roman"/>
                <a:cs typeface="Times New Roman"/>
              </a:rPr>
              <a:t>hosted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team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visibility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commercial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 </a:t>
            </a:r>
            <a:r>
              <a:rPr dirty="0" sz="1200">
                <a:latin typeface="Times New Roman"/>
                <a:cs typeface="Times New Roman"/>
              </a:rPr>
              <a:t>suites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 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fraction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without </a:t>
            </a:r>
            <a:r>
              <a:rPr dirty="0" sz="1200" spc="-10">
                <a:latin typeface="Times New Roman"/>
                <a:cs typeface="Times New Roman"/>
              </a:rPr>
              <a:t>exporting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off-</a:t>
            </a:r>
            <a:r>
              <a:rPr dirty="0" sz="1200">
                <a:latin typeface="Times New Roman"/>
                <a:cs typeface="Times New Roman"/>
              </a:rPr>
              <a:t>site.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concludes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proposed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practical,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extensible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foundation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for </a:t>
            </a:r>
            <a:r>
              <a:rPr dirty="0" sz="1200" spc="-20">
                <a:latin typeface="Times New Roman"/>
                <a:cs typeface="Times New Roman"/>
              </a:rPr>
              <a:t>campus-</a:t>
            </a:r>
            <a:r>
              <a:rPr dirty="0" sz="1200">
                <a:latin typeface="Times New Roman"/>
                <a:cs typeface="Times New Roman"/>
              </a:rPr>
              <a:t>wide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10">
                <a:latin typeface="Times New Roman"/>
                <a:cs typeface="Times New Roman"/>
              </a:rPr>
              <a:t> monitoring,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future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identified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adaptive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alerting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wider device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coverage.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9411106"/>
            <a:ext cx="5786755" cy="748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Keywords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</a:pP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infrastructure,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dashboard, </a:t>
            </a:r>
            <a:r>
              <a:rPr dirty="0" sz="1200">
                <a:latin typeface="Times New Roman"/>
                <a:cs typeface="Times New Roman"/>
              </a:rPr>
              <a:t>SNMP,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application,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</a:pP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visualization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7829" y="884046"/>
            <a:ext cx="165036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TABLE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CONTENTS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354" y="1341119"/>
          <a:ext cx="6111240" cy="4097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/>
                <a:gridCol w="4525010"/>
                <a:gridCol w="850900"/>
              </a:tblGrid>
              <a:tr h="441959">
                <a:tc>
                  <a:txBody>
                    <a:bodyPr/>
                    <a:lstStyle/>
                    <a:p>
                      <a:pPr algn="ctr" marL="9525">
                        <a:lnSpc>
                          <a:spcPts val="1370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Sl.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 marL="82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No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dirty="0" sz="1200" spc="-10" b="1">
                          <a:latin typeface="Arial"/>
                          <a:cs typeface="Arial"/>
                        </a:rPr>
                        <a:t>Title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1009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370"/>
                        </a:lnSpc>
                      </a:pPr>
                      <a:r>
                        <a:rPr dirty="0" sz="1200" spc="-20" b="1">
                          <a:latin typeface="Arial"/>
                          <a:cs typeface="Arial"/>
                        </a:rPr>
                        <a:t>Page</a:t>
                      </a:r>
                      <a:endParaRPr sz="1200">
                        <a:latin typeface="Arial"/>
                        <a:cs typeface="Arial"/>
                      </a:endParaRPr>
                    </a:p>
                    <a:p>
                      <a:pPr algn="ctr" marL="889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No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18415">
                        <a:lnSpc>
                          <a:spcPts val="1375"/>
                        </a:lnSpc>
                      </a:pPr>
                      <a:r>
                        <a:rPr dirty="0" sz="1200" spc="-50" b="1">
                          <a:latin typeface="Arial"/>
                          <a:cs typeface="Arial"/>
                        </a:rPr>
                        <a:t>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CERTIFICATE</a:t>
                      </a:r>
                      <a:r>
                        <a:rPr dirty="0" sz="1200" spc="-1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SUPERVISOR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698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DECLARATION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CANDIDATE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952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INDIVIDUAL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CONTRIBUTION</a:t>
                      </a:r>
                      <a:r>
                        <a:rPr dirty="0" sz="1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STATEMENT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iv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6350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iv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ABSTRACT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ts val="1375"/>
                        </a:lnSpc>
                      </a:pPr>
                      <a:r>
                        <a:rPr dirty="0" sz="1200" spc="-50" b="1">
                          <a:latin typeface="Arial"/>
                          <a:cs typeface="Arial"/>
                        </a:rPr>
                        <a:t>v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18415">
                        <a:lnSpc>
                          <a:spcPts val="1375"/>
                        </a:lnSpc>
                      </a:pPr>
                      <a:r>
                        <a:rPr dirty="0" sz="1200" spc="-50" b="1">
                          <a:latin typeface="Arial"/>
                          <a:cs typeface="Arial"/>
                        </a:rPr>
                        <a:t>v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FIGURES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vi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vi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TABLES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vii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9525">
                        <a:lnSpc>
                          <a:spcPts val="1375"/>
                        </a:lnSpc>
                      </a:pPr>
                      <a:r>
                        <a:rPr dirty="0" sz="1200" spc="-25" b="1">
                          <a:latin typeface="Arial"/>
                          <a:cs typeface="Arial"/>
                        </a:rPr>
                        <a:t>vii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ABBREVIATIONS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375"/>
                        </a:lnSpc>
                      </a:pPr>
                      <a:r>
                        <a:rPr dirty="0" sz="1200" spc="-20" b="1">
                          <a:latin typeface="Arial"/>
                          <a:cs typeface="Arial"/>
                        </a:rPr>
                        <a:t>viii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1: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Introduction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84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22225">
                        <a:lnSpc>
                          <a:spcPts val="1375"/>
                        </a:lnSpc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375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dirty="0" sz="1200" spc="-4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dirty="0" sz="12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Review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375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dirty="0" sz="12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3: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offs,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Sustainability,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Ethics,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Safety,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200" spc="-7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Security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20370">
                <a:tc>
                  <a:txBody>
                    <a:bodyPr/>
                    <a:lstStyle/>
                    <a:p>
                      <a:pPr algn="ctr" marL="2222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88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42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4: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Implementation,</a:t>
                      </a:r>
                      <a:r>
                        <a:rPr dirty="0" sz="1200" spc="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dirty="0" sz="12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Results,</a:t>
                      </a: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Project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68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Management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marL="22225">
                        <a:lnSpc>
                          <a:spcPts val="1380"/>
                        </a:lnSpc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38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CHAPTER</a:t>
                      </a:r>
                      <a:r>
                        <a:rPr dirty="0" sz="1200" spc="-3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5:</a:t>
                      </a:r>
                      <a:r>
                        <a:rPr dirty="0" sz="1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Conclusion</a:t>
                      </a:r>
                      <a:r>
                        <a:rPr dirty="0" sz="12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2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Reflection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425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References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ts val="1425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Appendices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10026" y="882776"/>
            <a:ext cx="154813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FIGURES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60754" y="1417319"/>
          <a:ext cx="5501640" cy="24987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6769"/>
                <a:gridCol w="3860164"/>
                <a:gridCol w="725804"/>
              </a:tblGrid>
              <a:tr h="265430">
                <a:tc>
                  <a:txBody>
                    <a:bodyPr/>
                    <a:lstStyle/>
                    <a:p>
                      <a:pPr marL="67310">
                        <a:lnSpc>
                          <a:spcPts val="137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955">
                        <a:lnSpc>
                          <a:spcPts val="137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200" spc="-5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1370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Page</a:t>
                      </a:r>
                      <a:r>
                        <a:rPr dirty="0" sz="1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6350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Three-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Architecture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Campus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Health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ts val="128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Campus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Network Health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Interface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dirty="0" sz="11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Health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Visualization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Figure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Development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Timeline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Gantt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Chart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7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2698" y="882776"/>
            <a:ext cx="145859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latin typeface="Times New Roman"/>
                <a:cs typeface="Times New Roman"/>
              </a:rPr>
              <a:t>LIST</a:t>
            </a:r>
            <a:r>
              <a:rPr dirty="0" sz="1400" spc="-6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OF</a:t>
            </a:r>
            <a:r>
              <a:rPr dirty="0" sz="1400" spc="-55" b="1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Times New Roman"/>
                <a:cs typeface="Times New Roman"/>
              </a:rPr>
              <a:t>TABLES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3459" y="1417319"/>
          <a:ext cx="5197475" cy="3554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6430"/>
                <a:gridCol w="3863975"/>
                <a:gridCol w="597535"/>
              </a:tblGrid>
              <a:tr h="545465">
                <a:tc>
                  <a:txBody>
                    <a:bodyPr/>
                    <a:lstStyle/>
                    <a:p>
                      <a:pPr marL="149860">
                        <a:lnSpc>
                          <a:spcPts val="142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Table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65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200" spc="-9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31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5415">
                        <a:lnSpc>
                          <a:spcPts val="142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Page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113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dirty="0" sz="1200" spc="-25" b="1">
                          <a:latin typeface="Times New Roman"/>
                          <a:cs typeface="Times New Roman"/>
                        </a:rPr>
                        <a:t>No.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6350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Stakeholder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Functional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Constraints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Applicable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Standards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Specifications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Solutions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Matrix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3.7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Sustainability,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Ethics,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Safety,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Analysis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18–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3.8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Register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19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dirty="0" sz="1100" spc="10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Used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Plan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Verification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4.3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Results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6350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4.4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Objective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Achievement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1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4.5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Roles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Contributions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4.6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Budget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22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4298" y="884046"/>
            <a:ext cx="27838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LIST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10" b="1">
                <a:latin typeface="Times New Roman"/>
                <a:cs typeface="Times New Roman"/>
              </a:rPr>
              <a:t> ABBREVIATIONS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SYMBOLS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25067" y="1478279"/>
          <a:ext cx="5182235" cy="33356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0"/>
                <a:gridCol w="2488565"/>
                <a:gridCol w="1143635"/>
              </a:tblGrid>
              <a:tr h="280670">
                <a:tc>
                  <a:txBody>
                    <a:bodyPr/>
                    <a:lstStyle/>
                    <a:p>
                      <a:pPr marL="485140">
                        <a:lnSpc>
                          <a:spcPts val="142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Symbol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ts val="1420"/>
                        </a:lnSpc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4765">
                        <a:lnSpc>
                          <a:spcPts val="1420"/>
                        </a:lnSpc>
                      </a:pP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Unit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335">
                <a:tc>
                  <a:txBody>
                    <a:bodyPr/>
                    <a:lstStyle/>
                    <a:p>
                      <a:pPr marL="6350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SNMP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Management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Protocol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76860">
                <a:tc>
                  <a:txBody>
                    <a:bodyPr/>
                    <a:lstStyle/>
                    <a:p>
                      <a:pPr marL="6350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ICMP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Internet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Protocol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REST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Representational</a:t>
                      </a:r>
                      <a:r>
                        <a:rPr dirty="0" sz="11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dirty="0" sz="11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Transfer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Interface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Interface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marL="6350">
                        <a:lnSpc>
                          <a:spcPts val="11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Experience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LAN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Area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Fi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Wireless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Fidelity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HTTP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Hypertext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Protocol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WebSocket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WebSocket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Protocol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JSON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JavaScript</a:t>
                      </a:r>
                      <a:r>
                        <a:rPr dirty="0" sz="11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Notation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ML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Learning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PRTG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Paessler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Router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Traffic</a:t>
                      </a:r>
                      <a:r>
                        <a:rPr dirty="0" sz="11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Grapher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6350">
                        <a:lnSpc>
                          <a:spcPts val="116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SO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Student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Outcome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1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—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INR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Indian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Rupee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₹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Percentage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60"/>
                        </a:lnSpc>
                      </a:pP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6099810" cy="964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242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CHAPTER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330835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INTRODUCTION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PROBLEM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Background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/>
            </a:pPr>
            <a:endParaRPr sz="1200">
              <a:latin typeface="Times New Roman"/>
              <a:cs typeface="Times New Roman"/>
            </a:endParaRPr>
          </a:p>
          <a:p>
            <a:pPr marL="12700" marR="44450">
              <a:lnSpc>
                <a:spcPct val="96100"/>
              </a:lnSpc>
            </a:pPr>
            <a:r>
              <a:rPr dirty="0" sz="1200">
                <a:latin typeface="Times New Roman"/>
                <a:cs typeface="Times New Roman"/>
              </a:rPr>
              <a:t>Modern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university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depend on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large,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heterogeneous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switches,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routers, wireless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 points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servers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support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academic,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administrative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residential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operations.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number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connected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grows,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department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needs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continuous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visibility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infrastructure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link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status,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bandwidth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utilisation,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latency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uptime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 </a:t>
            </a:r>
            <a:r>
              <a:rPr dirty="0" sz="1200">
                <a:latin typeface="Times New Roman"/>
                <a:cs typeface="Times New Roman"/>
              </a:rPr>
              <a:t>prevent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outages</a:t>
            </a:r>
            <a:r>
              <a:rPr dirty="0" sz="1200" spc="-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disrupt</a:t>
            </a:r>
            <a:r>
              <a:rPr dirty="0" sz="1200" spc="-10">
                <a:latin typeface="Times New Roman"/>
                <a:cs typeface="Times New Roman"/>
              </a:rPr>
              <a:t> classes,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examinations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research.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web-</a:t>
            </a:r>
            <a:r>
              <a:rPr dirty="0" sz="1200" spc="-10">
                <a:latin typeface="Times New Roman"/>
                <a:cs typeface="Times New Roman"/>
              </a:rPr>
              <a:t>based </a:t>
            </a:r>
            <a:r>
              <a:rPr dirty="0" sz="1200">
                <a:latin typeface="Times New Roman"/>
                <a:cs typeface="Times New Roman"/>
              </a:rPr>
              <a:t>Smart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Monitoring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collects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metrics </a:t>
            </a:r>
            <a:r>
              <a:rPr dirty="0" sz="1200" spc="-20">
                <a:latin typeface="Times New Roman"/>
                <a:cs typeface="Times New Roman"/>
              </a:rPr>
              <a:t>from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them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interactive,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interface,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author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responsible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front-</a:t>
            </a:r>
            <a:r>
              <a:rPr dirty="0" sz="1200" spc="-20">
                <a:latin typeface="Times New Roman"/>
                <a:cs typeface="Times New Roman"/>
              </a:rPr>
              <a:t>end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layer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visualisation components.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241300" algn="l"/>
              </a:tabLst>
            </a:pPr>
            <a:r>
              <a:rPr dirty="0" sz="1200" b="1">
                <a:latin typeface="Times New Roman"/>
                <a:cs typeface="Times New Roman"/>
              </a:rPr>
              <a:t>Need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for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the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200" spc="-10">
                <a:latin typeface="Times New Roman"/>
                <a:cs typeface="Times New Roman"/>
              </a:rPr>
              <a:t>Explain: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469265" marR="30480" indent="-228600">
              <a:lnSpc>
                <a:spcPct val="958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Undetected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link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failures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bandwidth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bottlenecks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currently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go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unnoticed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until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report </a:t>
            </a:r>
            <a:r>
              <a:rPr dirty="0" sz="1200">
                <a:latin typeface="Times New Roman"/>
                <a:cs typeface="Times New Roman"/>
              </a:rPr>
              <a:t>slow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unavailable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services,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proactive,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system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to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detect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and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visualise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faults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early.</a:t>
            </a:r>
            <a:endParaRPr sz="1200">
              <a:latin typeface="Times New Roman"/>
              <a:cs typeface="Times New Roman"/>
            </a:endParaRPr>
          </a:p>
          <a:p>
            <a:pPr lvl="1" marL="469265" marR="346710" indent="-228600">
              <a:lnSpc>
                <a:spcPct val="95800"/>
              </a:lnSpc>
              <a:spcBef>
                <a:spcPts val="20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Students,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faculty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administrative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staff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who depend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Times New Roman"/>
                <a:cs typeface="Times New Roman"/>
              </a:rPr>
              <a:t>Wi-</a:t>
            </a:r>
            <a:r>
              <a:rPr dirty="0" sz="1200">
                <a:latin typeface="Times New Roman"/>
                <a:cs typeface="Times New Roman"/>
              </a:rPr>
              <a:t>Fi,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web </a:t>
            </a:r>
            <a:r>
              <a:rPr dirty="0" sz="1200">
                <a:latin typeface="Times New Roman"/>
                <a:cs typeface="Times New Roman"/>
              </a:rPr>
              <a:t>services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classes,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labs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examinations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directly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affected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whenever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part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degrades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fails.</a:t>
            </a:r>
            <a:endParaRPr sz="1200">
              <a:latin typeface="Times New Roman"/>
              <a:cs typeface="Times New Roman"/>
            </a:endParaRPr>
          </a:p>
          <a:p>
            <a:pPr lvl="1" marL="469265" marR="285750" indent="-228600">
              <a:lnSpc>
                <a:spcPct val="97500"/>
              </a:lnSpc>
              <a:spcBef>
                <a:spcPts val="3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existing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approach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relies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manual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checks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ad-</a:t>
            </a:r>
            <a:r>
              <a:rPr dirty="0" sz="1200">
                <a:latin typeface="Times New Roman"/>
                <a:cs typeface="Times New Roman"/>
              </a:rPr>
              <a:t>hoc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command-</a:t>
            </a:r>
            <a:r>
              <a:rPr dirty="0" sz="1200">
                <a:latin typeface="Times New Roman"/>
                <a:cs typeface="Times New Roman"/>
              </a:rPr>
              <a:t>line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(ping, </a:t>
            </a:r>
            <a:r>
              <a:rPr dirty="0" sz="1200">
                <a:latin typeface="Times New Roman"/>
                <a:cs typeface="Times New Roman"/>
              </a:rPr>
              <a:t>traceroute)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run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only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complaint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received,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giving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historical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trend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no </a:t>
            </a:r>
            <a:r>
              <a:rPr dirty="0" sz="1200" spc="-10">
                <a:latin typeface="Times New Roman"/>
                <a:cs typeface="Times New Roman"/>
              </a:rPr>
              <a:t>single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consolidated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network.</a:t>
            </a:r>
            <a:endParaRPr sz="1200">
              <a:latin typeface="Times New Roman"/>
              <a:cs typeface="Times New Roman"/>
            </a:endParaRPr>
          </a:p>
          <a:p>
            <a:pPr algn="just" lvl="1" marL="469265" marR="92710" indent="-228600">
              <a:lnSpc>
                <a:spcPct val="95800"/>
              </a:lnSpc>
              <a:spcBef>
                <a:spcPts val="204"/>
              </a:spcBef>
              <a:buFont typeface="Microsoft Sans Serif"/>
              <a:buChar char="●"/>
              <a:tabLst>
                <a:tab pos="469265" algn="l"/>
                <a:tab pos="473709" algn="l"/>
              </a:tabLst>
            </a:pPr>
            <a:r>
              <a:rPr dirty="0" sz="1200">
                <a:latin typeface="Times New Roman"/>
                <a:cs typeface="Times New Roman"/>
              </a:rPr>
              <a:t>	From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engineering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standpoint,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absence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structured</a:t>
            </a:r>
            <a:r>
              <a:rPr dirty="0" sz="1200" spc="-10">
                <a:latin typeface="Times New Roman"/>
                <a:cs typeface="Times New Roman"/>
              </a:rPr>
              <a:t> monitoring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layer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means </a:t>
            </a:r>
            <a:r>
              <a:rPr dirty="0" sz="1200" spc="-10">
                <a:latin typeface="Times New Roman"/>
                <a:cs typeface="Times New Roman"/>
              </a:rPr>
              <a:t>faults </a:t>
            </a:r>
            <a:r>
              <a:rPr dirty="0" sz="1200">
                <a:latin typeface="Times New Roman"/>
                <a:cs typeface="Times New Roman"/>
              </a:rPr>
              <a:t>cannot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correlated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across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devices,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there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measurable</a:t>
            </a:r>
            <a:r>
              <a:rPr dirty="0" sz="1200">
                <a:latin typeface="Times New Roman"/>
                <a:cs typeface="Times New Roman"/>
              </a:rPr>
              <a:t> basis for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capacity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planning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reporting.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60"/>
              </a:spcBef>
              <a:buFont typeface="Microsoft Sans Serif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AutoNum type="arabicPeriod" startAt="3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Problem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Statement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Times New Roman"/>
              <a:buAutoNum type="arabicPeriod" startAt="3"/>
            </a:pPr>
            <a:endParaRPr sz="1200">
              <a:latin typeface="Times New Roman"/>
              <a:cs typeface="Times New Roman"/>
            </a:endParaRPr>
          </a:p>
          <a:p>
            <a:pPr marL="12700" marR="59055">
              <a:lnSpc>
                <a:spcPct val="96200"/>
              </a:lnSpc>
            </a:pPr>
            <a:r>
              <a:rPr dirty="0" sz="1200">
                <a:latin typeface="Times New Roman"/>
                <a:cs typeface="Times New Roman"/>
              </a:rPr>
              <a:t>Design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implement</a:t>
            </a:r>
            <a:r>
              <a:rPr dirty="0" sz="1200" spc="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continuously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polls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key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 </a:t>
            </a:r>
            <a:r>
              <a:rPr dirty="0" sz="1200">
                <a:latin typeface="Times New Roman"/>
                <a:cs typeface="Times New Roman"/>
              </a:rPr>
              <a:t>(switches,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access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points,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servers)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status,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latency,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packet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loss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bandwidth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usage,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stores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presents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through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visualisations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administrators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detect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degradation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before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affects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users.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problem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should,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wherever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appropriate,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involve: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469265" marR="752475" indent="-228600">
              <a:lnSpc>
                <a:spcPts val="142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Multiple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segments (wired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LAN,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Times New Roman"/>
                <a:cs typeface="Times New Roman"/>
              </a:rPr>
              <a:t>Wi-</a:t>
            </a:r>
            <a:r>
              <a:rPr dirty="0" sz="1200">
                <a:latin typeface="Times New Roman"/>
                <a:cs typeface="Times New Roman"/>
              </a:rPr>
              <a:t>Fi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server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room)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polled </a:t>
            </a:r>
            <a:r>
              <a:rPr dirty="0" sz="1200" spc="-20">
                <a:latin typeface="Times New Roman"/>
                <a:cs typeface="Times New Roman"/>
              </a:rPr>
              <a:t>concurrently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overloading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devices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monitored.</a:t>
            </a:r>
            <a:endParaRPr sz="1200">
              <a:latin typeface="Times New Roman"/>
              <a:cs typeface="Times New Roman"/>
            </a:endParaRPr>
          </a:p>
          <a:p>
            <a:pPr lvl="1" marL="469265" marR="196850" indent="-228600">
              <a:lnSpc>
                <a:spcPts val="1420"/>
              </a:lnSpc>
              <a:spcBef>
                <a:spcPts val="1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20">
                <a:latin typeface="Times New Roman"/>
                <a:cs typeface="Times New Roman"/>
              </a:rPr>
              <a:t>Aggregating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visualising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continuous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time-</a:t>
            </a:r>
            <a:r>
              <a:rPr dirty="0" sz="1200">
                <a:latin typeface="Times New Roman"/>
                <a:cs typeface="Times New Roman"/>
              </a:rPr>
              <a:t>series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near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real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while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keeping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responsive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technically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complex.</a:t>
            </a:r>
            <a:endParaRPr sz="1200">
              <a:latin typeface="Times New Roman"/>
              <a:cs typeface="Times New Roman"/>
            </a:endParaRPr>
          </a:p>
          <a:p>
            <a:pPr lvl="1" marL="469265" marR="5080" indent="-228600">
              <a:lnSpc>
                <a:spcPct val="95800"/>
              </a:lnSpc>
              <a:spcBef>
                <a:spcPts val="16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Administrators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want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maximum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polling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frequency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accuracy,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while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devices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>
                <a:latin typeface="Times New Roman"/>
                <a:cs typeface="Times New Roman"/>
              </a:rPr>
              <a:t>bandwidth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budgets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favour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minimal</a:t>
            </a:r>
            <a:r>
              <a:rPr dirty="0" sz="1200" spc="-10">
                <a:latin typeface="Times New Roman"/>
                <a:cs typeface="Times New Roman"/>
              </a:rPr>
              <a:t> polling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overhead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conflicting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requirement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be </a:t>
            </a:r>
            <a:r>
              <a:rPr dirty="0" sz="1200" spc="-10">
                <a:latin typeface="Times New Roman"/>
                <a:cs typeface="Times New Roman"/>
              </a:rPr>
              <a:t>balanced.</a:t>
            </a:r>
            <a:endParaRPr sz="1200">
              <a:latin typeface="Times New Roman"/>
              <a:cs typeface="Times New Roman"/>
            </a:endParaRPr>
          </a:p>
          <a:p>
            <a:pPr lvl="1" marL="469265" marR="146685" indent="-228600">
              <a:lnSpc>
                <a:spcPts val="1420"/>
              </a:lnSpc>
              <a:spcBef>
                <a:spcPts val="21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must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existing,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heterogeneous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hardware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(mixed-</a:t>
            </a:r>
            <a:r>
              <a:rPr dirty="0" sz="1200" spc="-10">
                <a:latin typeface="Times New Roman"/>
                <a:cs typeface="Times New Roman"/>
              </a:rPr>
              <a:t>vendor </a:t>
            </a:r>
            <a:r>
              <a:rPr dirty="0" sz="1200">
                <a:latin typeface="Times New Roman"/>
                <a:cs typeface="Times New Roman"/>
              </a:rPr>
              <a:t>switches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access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points)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without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requiring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costly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replacement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equipment.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21206"/>
            <a:ext cx="6108700" cy="4507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Project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25" b="1">
                <a:latin typeface="Times New Roman"/>
                <a:cs typeface="Times New Roman"/>
              </a:rPr>
              <a:t>Aim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imes New Roman"/>
              <a:buAutoNum type="arabicPeriod" startAt="4"/>
            </a:pPr>
            <a:endParaRPr sz="1200">
              <a:latin typeface="Times New Roman"/>
              <a:cs typeface="Times New Roman"/>
            </a:endParaRPr>
          </a:p>
          <a:p>
            <a:pPr marL="12700" marR="302260">
              <a:lnSpc>
                <a:spcPct val="95900"/>
              </a:lnSpc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design,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develop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evaluate 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monitoring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gives </a:t>
            </a:r>
            <a:r>
              <a:rPr dirty="0" sz="1200">
                <a:latin typeface="Times New Roman"/>
                <a:cs typeface="Times New Roman"/>
              </a:rPr>
              <a:t>SIMATS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Engineering's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administrators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time,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consolidated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visibility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into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campus network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infrastructure.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5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Project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specific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objectives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project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 spc="-20">
                <a:latin typeface="Times New Roman"/>
                <a:cs typeface="Times New Roman"/>
              </a:rPr>
              <a:t>are: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469265" marR="213360" indent="-228600">
              <a:lnSpc>
                <a:spcPts val="1420"/>
              </a:lnSpc>
              <a:buAutoNum type="arabicPeriod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design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data-</a:t>
            </a:r>
            <a:r>
              <a:rPr dirty="0" sz="1200" spc="-20">
                <a:latin typeface="Times New Roman"/>
                <a:cs typeface="Times New Roman"/>
              </a:rPr>
              <a:t>collection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layer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polls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networkdevices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uptime, </a:t>
            </a:r>
            <a:r>
              <a:rPr dirty="0" sz="1200" spc="-25">
                <a:latin typeface="Times New Roman"/>
                <a:cs typeface="Times New Roman"/>
              </a:rPr>
              <a:t>latency,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packet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loss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bandwidth.</a:t>
            </a:r>
            <a:endParaRPr sz="1200">
              <a:latin typeface="Times New Roman"/>
              <a:cs typeface="Times New Roman"/>
            </a:endParaRPr>
          </a:p>
          <a:p>
            <a:pPr lvl="1" marL="468630" indent="-227329">
              <a:lnSpc>
                <a:spcPts val="1430"/>
              </a:lnSpc>
              <a:spcBef>
                <a:spcPts val="95"/>
              </a:spcBef>
              <a:buAutoNum type="arabicPeriod"/>
              <a:tabLst>
                <a:tab pos="468630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develop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API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database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layer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stores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serves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collected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network-</a:t>
            </a:r>
            <a:r>
              <a:rPr dirty="0" sz="1200" spc="-10">
                <a:latin typeface="Times New Roman"/>
                <a:cs typeface="Times New Roman"/>
              </a:rPr>
              <a:t>health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30"/>
              </a:lnSpc>
            </a:pPr>
            <a:r>
              <a:rPr dirty="0" sz="1200" spc="-1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lvl="1" marL="469265" marR="574675" indent="-228600">
              <a:lnSpc>
                <a:spcPts val="1420"/>
              </a:lnSpc>
              <a:spcBef>
                <a:spcPts val="209"/>
              </a:spcBef>
              <a:buAutoNum type="arabicPeriod" startAt="3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model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link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status</a:t>
            </a:r>
            <a:r>
              <a:rPr dirty="0" sz="1200" spc="-1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using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simple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traffic-</a:t>
            </a:r>
            <a:r>
              <a:rPr dirty="0" sz="1200">
                <a:latin typeface="Times New Roman"/>
                <a:cs typeface="Times New Roman"/>
              </a:rPr>
              <a:t>light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(healthy/warning/critical) </a:t>
            </a:r>
            <a:r>
              <a:rPr dirty="0" sz="1200" spc="-25">
                <a:latin typeface="Times New Roman"/>
                <a:cs typeface="Times New Roman"/>
              </a:rPr>
              <a:t>classification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scheme.</a:t>
            </a:r>
            <a:endParaRPr sz="1200">
              <a:latin typeface="Times New Roman"/>
              <a:cs typeface="Times New Roman"/>
            </a:endParaRPr>
          </a:p>
          <a:p>
            <a:pPr lvl="1" marL="469265" marR="294005" indent="-228600">
              <a:lnSpc>
                <a:spcPts val="1420"/>
              </a:lnSpc>
              <a:spcBef>
                <a:spcPts val="160"/>
              </a:spcBef>
              <a:buAutoNum type="arabicPeriod" startAt="3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implement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responsive,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web-based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dashboard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charts,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map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and </a:t>
            </a:r>
            <a:r>
              <a:rPr dirty="0" sz="1200" spc="-10">
                <a:latin typeface="Times New Roman"/>
                <a:cs typeface="Times New Roman"/>
              </a:rPr>
              <a:t>alert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notifications.</a:t>
            </a:r>
            <a:endParaRPr sz="1200">
              <a:latin typeface="Times New Roman"/>
              <a:cs typeface="Times New Roman"/>
            </a:endParaRPr>
          </a:p>
          <a:p>
            <a:pPr lvl="1" marL="469265" marR="181610" indent="-228600">
              <a:lnSpc>
                <a:spcPts val="1420"/>
              </a:lnSpc>
              <a:spcBef>
                <a:spcPts val="160"/>
              </a:spcBef>
              <a:buAutoNum type="arabicPeriod" startAt="3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test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dashboard's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accuracy,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responsiveness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alerting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under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simulated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fault conditions.</a:t>
            </a:r>
            <a:endParaRPr sz="1200">
              <a:latin typeface="Times New Roman"/>
              <a:cs typeface="Times New Roman"/>
            </a:endParaRPr>
          </a:p>
          <a:p>
            <a:pPr lvl="1" marL="469265" marR="484505" indent="-228600">
              <a:lnSpc>
                <a:spcPts val="1420"/>
              </a:lnSpc>
              <a:spcBef>
                <a:spcPts val="160"/>
              </a:spcBef>
              <a:buAutoNum type="arabicPeriod" startAt="3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evaluate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system's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usability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25">
                <a:latin typeface="Times New Roman"/>
                <a:cs typeface="Times New Roman"/>
              </a:rPr>
              <a:t>effectiveness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feedback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from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campus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IT </a:t>
            </a:r>
            <a:r>
              <a:rPr dirty="0" sz="1200" spc="-10">
                <a:latin typeface="Times New Roman"/>
                <a:cs typeface="Times New Roman"/>
              </a:rPr>
              <a:t>support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staff.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6068060" cy="359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Scope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Font typeface="Times New Roman"/>
              <a:buAutoNum type="arabicPeriod" startAt="6"/>
            </a:pP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15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Included: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real-</a:t>
            </a:r>
            <a:r>
              <a:rPr dirty="0" sz="1200">
                <a:latin typeface="Times New Roman"/>
                <a:cs typeface="Times New Roman"/>
              </a:rPr>
              <a:t>time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polling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devices,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live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charts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alerts,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15"/>
              </a:lnSpc>
            </a:pP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historical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monitored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segment.</a:t>
            </a:r>
            <a:endParaRPr sz="1200">
              <a:latin typeface="Times New Roman"/>
              <a:cs typeface="Times New Roman"/>
            </a:endParaRPr>
          </a:p>
          <a:p>
            <a:pPr lvl="1" marL="469265" marR="5080" indent="-228600">
              <a:lnSpc>
                <a:spcPts val="1390"/>
              </a:lnSpc>
              <a:spcBef>
                <a:spcPts val="25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Excluded: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automatic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remediation/self-</a:t>
            </a:r>
            <a:r>
              <a:rPr dirty="0" sz="1200">
                <a:latin typeface="Times New Roman"/>
                <a:cs typeface="Times New Roman"/>
              </a:rPr>
              <a:t>healing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faults,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end-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personal </a:t>
            </a:r>
            <a:r>
              <a:rPr dirty="0" sz="1200">
                <a:latin typeface="Times New Roman"/>
                <a:cs typeface="Times New Roman"/>
              </a:rPr>
              <a:t>devices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outside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network.</a:t>
            </a:r>
            <a:endParaRPr sz="1200">
              <a:latin typeface="Times New Roman"/>
              <a:cs typeface="Times New Roman"/>
            </a:endParaRPr>
          </a:p>
          <a:p>
            <a:pPr lvl="1" marL="469265" marR="82550" indent="-228600">
              <a:lnSpc>
                <a:spcPts val="1390"/>
              </a:lnSpc>
              <a:spcBef>
                <a:spcPts val="22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assumed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all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monitored</a:t>
            </a:r>
            <a:r>
              <a:rPr dirty="0" sz="12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support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standard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SNMP/ICMP</a:t>
            </a:r>
            <a:r>
              <a:rPr dirty="0" sz="1200" spc="-1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querying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department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provides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read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access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credentials.</a:t>
            </a:r>
            <a:endParaRPr sz="1200">
              <a:latin typeface="Times New Roman"/>
              <a:cs typeface="Times New Roman"/>
            </a:endParaRPr>
          </a:p>
          <a:p>
            <a:pPr lvl="1" marL="469265" indent="-227965">
              <a:lnSpc>
                <a:spcPts val="1420"/>
              </a:lnSpc>
              <a:spcBef>
                <a:spcPts val="13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bounded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devices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segments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made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available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this</a:t>
            </a:r>
            <a:endParaRPr sz="1200">
              <a:latin typeface="Times New Roman"/>
              <a:cs typeface="Times New Roman"/>
            </a:endParaRPr>
          </a:p>
          <a:p>
            <a:pPr marL="469265">
              <a:lnSpc>
                <a:spcPts val="1420"/>
              </a:lnSpc>
            </a:pPr>
            <a:r>
              <a:rPr dirty="0" sz="1200">
                <a:latin typeface="Times New Roman"/>
                <a:cs typeface="Times New Roman"/>
              </a:rPr>
              <a:t>capstone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does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extend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off-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infrastructure.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7"/>
              <a:tabLst>
                <a:tab pos="241300" algn="l"/>
              </a:tabLst>
            </a:pPr>
            <a:r>
              <a:rPr dirty="0" sz="1200" b="1">
                <a:latin typeface="Times New Roman"/>
                <a:cs typeface="Times New Roman"/>
              </a:rPr>
              <a:t>Expected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Outcome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200" spc="-10">
                <a:latin typeface="Times New Roman"/>
                <a:cs typeface="Times New Roman"/>
              </a:rPr>
              <a:t>Define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intended: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200">
              <a:latin typeface="Times New Roman"/>
              <a:cs typeface="Times New Roman"/>
            </a:endParaRPr>
          </a:p>
          <a:p>
            <a:pPr lvl="1" marL="469265" marR="31750" indent="-228600">
              <a:lnSpc>
                <a:spcPct val="958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expected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outcome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working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web-</a:t>
            </a:r>
            <a:r>
              <a:rPr dirty="0" sz="1200" spc="-10">
                <a:latin typeface="Times New Roman"/>
                <a:cs typeface="Times New Roman"/>
              </a:rPr>
              <a:t>based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system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-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</a:t>
            </a:r>
            <a:r>
              <a:rPr dirty="0" sz="1200" spc="-1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 dashboard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comprising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data-</a:t>
            </a:r>
            <a:r>
              <a:rPr dirty="0" sz="1200" spc="-25">
                <a:latin typeface="Times New Roman"/>
                <a:cs typeface="Times New Roman"/>
              </a:rPr>
              <a:t>collection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service,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API,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database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browser-</a:t>
            </a:r>
            <a:r>
              <a:rPr dirty="0" sz="1200" spc="-10">
                <a:latin typeface="Times New Roman"/>
                <a:cs typeface="Times New Roman"/>
              </a:rPr>
              <a:t>based </a:t>
            </a:r>
            <a:r>
              <a:rPr dirty="0" sz="1200">
                <a:latin typeface="Times New Roman"/>
                <a:cs typeface="Times New Roman"/>
              </a:rPr>
              <a:t>front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end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displays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live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historical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</a:t>
            </a:r>
            <a:r>
              <a:rPr dirty="0" sz="1200" spc="-114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information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the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campus.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6083935" cy="6165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965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CHAPTER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304165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LITERATURE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REVIEW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EXISTING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SOLUTIONS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Review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Method</a:t>
            </a:r>
            <a:endParaRPr sz="1200">
              <a:latin typeface="Times New Roman"/>
              <a:cs typeface="Times New Roman"/>
            </a:endParaRPr>
          </a:p>
          <a:p>
            <a:pPr marL="12700" marR="600710">
              <a:lnSpc>
                <a:spcPct val="111200"/>
              </a:lnSpc>
              <a:spcBef>
                <a:spcPts val="990"/>
              </a:spcBef>
            </a:pPr>
            <a:r>
              <a:rPr dirty="0" sz="1200">
                <a:latin typeface="Times New Roman"/>
                <a:cs typeface="Times New Roman"/>
              </a:rPr>
              <a:t>Relevant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literature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existing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identified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by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reviewing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IEEE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ACM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papers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monitoring,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comparing</a:t>
            </a:r>
            <a:r>
              <a:rPr dirty="0" sz="1200" spc="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established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open-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20">
                <a:latin typeface="Times New Roman"/>
                <a:cs typeface="Times New Roman"/>
              </a:rPr>
              <a:t> monitoring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platforms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(such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as </a:t>
            </a:r>
            <a:r>
              <a:rPr dirty="0" sz="1200">
                <a:latin typeface="Times New Roman"/>
                <a:cs typeface="Times New Roman"/>
              </a:rPr>
              <a:t>Nagios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Zabbix),</a:t>
            </a:r>
            <a:r>
              <a:rPr dirty="0" sz="1200" spc="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studying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vendor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documentation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SNMP-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network management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 </a:t>
            </a:r>
            <a:r>
              <a:rPr dirty="0" sz="1200" spc="-20">
                <a:latin typeface="Times New Roman"/>
                <a:cs typeface="Times New Roman"/>
              </a:rPr>
              <a:t>commercial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SaaS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PRTG.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dirty="0" sz="1200" b="1">
                <a:latin typeface="Times New Roman"/>
                <a:cs typeface="Times New Roman"/>
              </a:rPr>
              <a:t>Review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Existing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Work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 startAt="2"/>
            </a:pPr>
            <a:endParaRPr sz="1200">
              <a:latin typeface="Times New Roman"/>
              <a:cs typeface="Times New Roman"/>
            </a:endParaRPr>
          </a:p>
          <a:p>
            <a:pPr lvl="1" marL="469265" marR="43815" indent="-228600">
              <a:lnSpc>
                <a:spcPct val="958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Published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research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SNMP-based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flow-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monitoring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highlights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the </a:t>
            </a:r>
            <a:r>
              <a:rPr dirty="0" sz="1200" spc="-10">
                <a:latin typeface="Times New Roman"/>
                <a:cs typeface="Times New Roman"/>
              </a:rPr>
              <a:t>trade-</a:t>
            </a:r>
            <a:r>
              <a:rPr dirty="0" sz="1200" spc="-25">
                <a:latin typeface="Times New Roman"/>
                <a:cs typeface="Times New Roman"/>
              </a:rPr>
              <a:t>off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between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polling overhead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detection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latency,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most </a:t>
            </a:r>
            <a:r>
              <a:rPr dirty="0" sz="1200" spc="-20">
                <a:latin typeface="Times New Roman"/>
                <a:cs typeface="Times New Roman"/>
              </a:rPr>
              <a:t>academic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prototypes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are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evaluated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end-</a:t>
            </a:r>
            <a:r>
              <a:rPr dirty="0" sz="1200">
                <a:latin typeface="Times New Roman"/>
                <a:cs typeface="Times New Roman"/>
              </a:rPr>
              <a:t>to-</a:t>
            </a:r>
            <a:r>
              <a:rPr dirty="0" sz="1200" spc="-20">
                <a:latin typeface="Times New Roman"/>
                <a:cs typeface="Times New Roman"/>
              </a:rPr>
              <a:t>end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dashboards.</a:t>
            </a:r>
            <a:endParaRPr sz="1200">
              <a:latin typeface="Times New Roman"/>
              <a:cs typeface="Times New Roman"/>
            </a:endParaRPr>
          </a:p>
          <a:p>
            <a:pPr lvl="1" marL="469265" marR="102870" indent="-228600">
              <a:lnSpc>
                <a:spcPts val="1390"/>
              </a:lnSpc>
              <a:spcBef>
                <a:spcPts val="23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Existing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enterprise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systems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Zabbix 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Nagios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provide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mature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alerting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engines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but </a:t>
            </a:r>
            <a:r>
              <a:rPr dirty="0" sz="1200">
                <a:latin typeface="Times New Roman"/>
                <a:cs typeface="Times New Roman"/>
              </a:rPr>
              <a:t>present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steep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configuration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overhead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dated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interface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that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is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not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tailored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a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team's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day-</a:t>
            </a:r>
            <a:r>
              <a:rPr dirty="0" sz="1200">
                <a:latin typeface="Times New Roman"/>
                <a:cs typeface="Times New Roman"/>
              </a:rPr>
              <a:t>to-</a:t>
            </a:r>
            <a:r>
              <a:rPr dirty="0" sz="1200" spc="-10">
                <a:latin typeface="Times New Roman"/>
                <a:cs typeface="Times New Roman"/>
              </a:rPr>
              <a:t>day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needs.</a:t>
            </a:r>
            <a:endParaRPr sz="1200">
              <a:latin typeface="Times New Roman"/>
              <a:cs typeface="Times New Roman"/>
            </a:endParaRPr>
          </a:p>
          <a:p>
            <a:pPr algn="just" lvl="1" marL="469265" marR="5080" indent="-228600">
              <a:lnSpc>
                <a:spcPct val="97500"/>
              </a:lnSpc>
              <a:spcBef>
                <a:spcPts val="244"/>
              </a:spcBef>
              <a:buFont typeface="Microsoft Sans Serif"/>
              <a:buChar char="●"/>
              <a:tabLst>
                <a:tab pos="469265" algn="l"/>
                <a:tab pos="473709" algn="l"/>
              </a:tabLst>
            </a:pPr>
            <a:r>
              <a:rPr dirty="0" sz="1200">
                <a:latin typeface="Times New Roman"/>
                <a:cs typeface="Times New Roman"/>
              </a:rPr>
              <a:t>	</a:t>
            </a:r>
            <a:r>
              <a:rPr dirty="0" sz="1200" spc="-10">
                <a:latin typeface="Times New Roman"/>
                <a:cs typeface="Times New Roman"/>
              </a:rPr>
              <a:t>Commercial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SaaS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PRTG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offer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polished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subscription-</a:t>
            </a:r>
            <a:r>
              <a:rPr dirty="0" sz="1200" spc="-10">
                <a:latin typeface="Times New Roman"/>
                <a:cs typeface="Times New Roman"/>
              </a:rPr>
              <a:t>based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require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sending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outside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institution,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which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raises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data-privacy </a:t>
            </a:r>
            <a:r>
              <a:rPr dirty="0" sz="1200">
                <a:latin typeface="Times New Roman"/>
                <a:cs typeface="Times New Roman"/>
              </a:rPr>
              <a:t>concerns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academic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campus.</a:t>
            </a:r>
            <a:endParaRPr sz="1200">
              <a:latin typeface="Times New Roman"/>
              <a:cs typeface="Times New Roman"/>
            </a:endParaRPr>
          </a:p>
          <a:p>
            <a:pPr lvl="1" marL="469265" marR="287655" indent="-228600">
              <a:lnSpc>
                <a:spcPts val="1390"/>
              </a:lnSpc>
              <a:spcBef>
                <a:spcPts val="25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30">
                <a:latin typeface="Times New Roman"/>
                <a:cs typeface="Times New Roman"/>
              </a:rPr>
              <a:t>Underlying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technologies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reviewed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include</a:t>
            </a:r>
            <a:r>
              <a:rPr dirty="0" sz="1200" spc="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SNMP,</a:t>
            </a:r>
            <a:r>
              <a:rPr dirty="0" sz="1200" spc="-9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ICMP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WebSocket-</a:t>
            </a:r>
            <a:r>
              <a:rPr dirty="0" sz="1200" spc="-10">
                <a:latin typeface="Times New Roman"/>
                <a:cs typeface="Times New Roman"/>
              </a:rPr>
              <a:t>based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real-</a:t>
            </a:r>
            <a:r>
              <a:rPr dirty="0" sz="1200" spc="-20">
                <a:latin typeface="Times New Roman"/>
                <a:cs typeface="Times New Roman"/>
              </a:rPr>
              <a:t>time </a:t>
            </a:r>
            <a:r>
              <a:rPr dirty="0" sz="1200">
                <a:latin typeface="Times New Roman"/>
                <a:cs typeface="Times New Roman"/>
              </a:rPr>
              <a:t>push,</a:t>
            </a:r>
            <a:r>
              <a:rPr dirty="0" sz="1200" spc="-35">
                <a:latin typeface="Times New Roman"/>
                <a:cs typeface="Times New Roman"/>
              </a:rPr>
              <a:t> all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of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which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inform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35">
                <a:latin typeface="Times New Roman"/>
                <a:cs typeface="Times New Roman"/>
              </a:rPr>
              <a:t>data-</a:t>
            </a:r>
            <a:r>
              <a:rPr dirty="0" sz="1200" spc="-25">
                <a:latin typeface="Times New Roman"/>
                <a:cs typeface="Times New Roman"/>
              </a:rPr>
              <a:t>collection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55">
                <a:latin typeface="Times New Roman"/>
                <a:cs typeface="Times New Roman"/>
              </a:rPr>
              <a:t>live-</a:t>
            </a:r>
            <a:r>
              <a:rPr dirty="0" sz="1200">
                <a:latin typeface="Times New Roman"/>
                <a:cs typeface="Times New Roman"/>
              </a:rPr>
              <a:t>update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design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 this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project.</a:t>
            </a:r>
            <a:endParaRPr sz="1200">
              <a:latin typeface="Times New Roman"/>
              <a:cs typeface="Times New Roman"/>
            </a:endParaRPr>
          </a:p>
          <a:p>
            <a:pPr lvl="1" marL="469265" marR="473709" indent="-228600">
              <a:lnSpc>
                <a:spcPts val="1390"/>
              </a:lnSpc>
              <a:spcBef>
                <a:spcPts val="22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55">
                <a:latin typeface="Times New Roman"/>
                <a:cs typeface="Times New Roman"/>
              </a:rPr>
              <a:t>Time-</a:t>
            </a:r>
            <a:r>
              <a:rPr dirty="0" sz="1200">
                <a:latin typeface="Times New Roman"/>
                <a:cs typeface="Times New Roman"/>
              </a:rPr>
              <a:t>series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aggregation</a:t>
            </a:r>
            <a:r>
              <a:rPr dirty="0" sz="1200" spc="-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and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40">
                <a:latin typeface="Times New Roman"/>
                <a:cs typeface="Times New Roman"/>
              </a:rPr>
              <a:t>threshold-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alerting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methods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from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 </a:t>
            </a:r>
            <a:r>
              <a:rPr dirty="0" sz="1200" spc="-30">
                <a:latin typeface="Times New Roman"/>
                <a:cs typeface="Times New Roman"/>
              </a:rPr>
              <a:t>literature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were </a:t>
            </a:r>
            <a:r>
              <a:rPr dirty="0" sz="1200" spc="-10">
                <a:latin typeface="Times New Roman"/>
                <a:cs typeface="Times New Roman"/>
              </a:rPr>
              <a:t>adapted</a:t>
            </a:r>
            <a:r>
              <a:rPr dirty="0" sz="1200" spc="-10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for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traffic-</a:t>
            </a:r>
            <a:r>
              <a:rPr dirty="0" sz="1200">
                <a:latin typeface="Times New Roman"/>
                <a:cs typeface="Times New Roman"/>
              </a:rPr>
              <a:t>light</a:t>
            </a:r>
            <a:r>
              <a:rPr dirty="0" sz="1200" spc="1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health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classification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used </a:t>
            </a:r>
            <a:r>
              <a:rPr dirty="0" sz="1200" spc="-45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dashboard.</a:t>
            </a:r>
            <a:endParaRPr sz="1200">
              <a:latin typeface="Times New Roman"/>
              <a:cs typeface="Times New Roman"/>
            </a:endParaRPr>
          </a:p>
          <a:p>
            <a:pPr lvl="1" marL="469265" marR="364490" indent="-228600">
              <a:lnSpc>
                <a:spcPts val="1390"/>
              </a:lnSpc>
              <a:spcBef>
                <a:spcPts val="22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-45">
                <a:latin typeface="Times New Roman"/>
                <a:cs typeface="Times New Roman"/>
              </a:rPr>
              <a:t> campus-</a:t>
            </a:r>
            <a:r>
              <a:rPr dirty="0" sz="1200">
                <a:latin typeface="Times New Roman"/>
                <a:cs typeface="Times New Roman"/>
              </a:rPr>
              <a:t>specific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patents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found;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instead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builds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on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openly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published monitoring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architectures.</a:t>
            </a:r>
            <a:endParaRPr sz="12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625"/>
              </a:spcBef>
              <a:buFont typeface="Microsoft Sans Serif"/>
              <a:buChar char="●"/>
            </a:pPr>
            <a:endParaRPr sz="1200">
              <a:latin typeface="Times New Roman"/>
              <a:cs typeface="Times New Roman"/>
            </a:endParaRPr>
          </a:p>
          <a:p>
            <a:pPr marL="240029" indent="-227329">
              <a:lnSpc>
                <a:spcPct val="100000"/>
              </a:lnSpc>
              <a:buAutoNum type="arabicPeriod" startAt="2"/>
              <a:tabLst>
                <a:tab pos="240029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Comparative</a:t>
            </a:r>
            <a:r>
              <a:rPr dirty="0" sz="1200" spc="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354" y="7033640"/>
          <a:ext cx="5959475" cy="202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4930"/>
                <a:gridCol w="1576705"/>
                <a:gridCol w="1079500"/>
                <a:gridCol w="1869439"/>
              </a:tblGrid>
              <a:tr h="544830">
                <a:tc>
                  <a:txBody>
                    <a:bodyPr/>
                    <a:lstStyle/>
                    <a:p>
                      <a:pPr marL="350520" marR="337185" indent="57785">
                        <a:lnSpc>
                          <a:spcPct val="110000"/>
                        </a:lnSpc>
                        <a:spcBef>
                          <a:spcPts val="229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Existing Approach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Advantages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Limitations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31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015" marR="213995" indent="-552450">
                        <a:lnSpc>
                          <a:spcPct val="110000"/>
                        </a:lnSpc>
                        <a:spcBef>
                          <a:spcPts val="229"/>
                        </a:spcBef>
                      </a:pP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Relevance</a:t>
                      </a:r>
                      <a:r>
                        <a:rPr dirty="0" sz="12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2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Proposed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Work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marL="6350" marR="577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Zabbix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Nagios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(open-source)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2730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Mature</a:t>
                      </a:r>
                      <a:r>
                        <a:rPr dirty="0" sz="1100" spc="-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alerting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engine;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free and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hosted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287655">
                        <a:lnSpc>
                          <a:spcPts val="1270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Complex configuration;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dated,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non-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1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intuitive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>
                        <a:lnSpc>
                          <a:spcPts val="12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team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3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Confirms</a:t>
                      </a:r>
                      <a:r>
                        <a:rPr dirty="0" sz="1100" spc="1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hosting</a:t>
                      </a:r>
                      <a:r>
                        <a:rPr dirty="0" sz="1100" spc="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dirty="0" sz="11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feasible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ts val="127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simpler,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ts val="129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purpose-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UI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60400">
                <a:tc>
                  <a:txBody>
                    <a:bodyPr/>
                    <a:lstStyle/>
                    <a:p>
                      <a:pPr marL="6350" marR="218440">
                        <a:lnSpc>
                          <a:spcPts val="132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PRTG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SolarWinds (commercial</a:t>
                      </a:r>
                      <a:r>
                        <a:rPr dirty="0" sz="11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SaaS)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marR="440690">
                        <a:lnSpc>
                          <a:spcPts val="132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Polished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minimal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setup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7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Ongoing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91440">
                        <a:lnSpc>
                          <a:spcPts val="13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subscription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cost;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off-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campus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marR="283845">
                        <a:lnSpc>
                          <a:spcPts val="132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Motivates a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hosted,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no-licence-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dirty="0" sz="1100" spc="2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alternative</a:t>
                      </a:r>
                      <a:r>
                        <a:rPr dirty="0" sz="1100" spc="2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that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ts val="125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keeps data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campus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9276994"/>
            <a:ext cx="6067425" cy="1096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2.4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Research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-25" b="1">
                <a:latin typeface="Times New Roman"/>
                <a:cs typeface="Times New Roman"/>
              </a:rPr>
              <a:t> Gap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96200"/>
              </a:lnSpc>
            </a:pPr>
            <a:r>
              <a:rPr dirty="0" sz="1200" spc="-10">
                <a:latin typeface="Times New Roman"/>
                <a:cs typeface="Times New Roman"/>
              </a:rPr>
              <a:t>Existing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are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either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complex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costly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single-</a:t>
            </a:r>
            <a:r>
              <a:rPr dirty="0" sz="1200">
                <a:latin typeface="Times New Roman"/>
                <a:cs typeface="Times New Roman"/>
              </a:rPr>
              <a:t>department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deployment</a:t>
            </a:r>
            <a:r>
              <a:rPr dirty="0" sz="1200" spc="8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(Zabbix, </a:t>
            </a:r>
            <a:r>
              <a:rPr dirty="0" sz="1200">
                <a:latin typeface="Times New Roman"/>
                <a:cs typeface="Times New Roman"/>
              </a:rPr>
              <a:t>PRTG)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or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limited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give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consolidated,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easy-</a:t>
            </a:r>
            <a:r>
              <a:rPr dirty="0" sz="1200">
                <a:latin typeface="Times New Roman"/>
                <a:cs typeface="Times New Roman"/>
              </a:rPr>
              <a:t>to-</a:t>
            </a:r>
            <a:r>
              <a:rPr dirty="0" sz="1200" spc="-10">
                <a:latin typeface="Times New Roman"/>
                <a:cs typeface="Times New Roman"/>
              </a:rPr>
              <a:t>read</a:t>
            </a:r>
            <a:r>
              <a:rPr dirty="0" sz="1200" spc="-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live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view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(manual </a:t>
            </a:r>
            <a:r>
              <a:rPr dirty="0" sz="1200" spc="-10">
                <a:latin typeface="Times New Roman"/>
                <a:cs typeface="Times New Roman"/>
              </a:rPr>
              <a:t>ping/traceroute</a:t>
            </a:r>
            <a:r>
              <a:rPr dirty="0" sz="1200" spc="5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checks),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leaving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gap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lightweight,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purpose-built, </a:t>
            </a:r>
            <a:r>
              <a:rPr dirty="0" sz="1200" spc="-20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tailored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campus </a:t>
            </a:r>
            <a:r>
              <a:rPr dirty="0" sz="1200">
                <a:latin typeface="Times New Roman"/>
                <a:cs typeface="Times New Roman"/>
              </a:rPr>
              <a:t>network's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scale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budget.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024254"/>
            <a:ext cx="5805805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2.5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Proposed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Contribution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96200"/>
              </a:lnSpc>
            </a:pPr>
            <a:r>
              <a:rPr dirty="0" sz="1200" spc="-10">
                <a:latin typeface="Times New Roman"/>
                <a:cs typeface="Times New Roman"/>
              </a:rPr>
              <a:t>Unlike</a:t>
            </a:r>
            <a:r>
              <a:rPr dirty="0" sz="1200">
                <a:latin typeface="Times New Roman"/>
                <a:cs typeface="Times New Roman"/>
              </a:rPr>
              <a:t> the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reviewed </a:t>
            </a:r>
            <a:r>
              <a:rPr dirty="0" sz="1200" spc="-20">
                <a:latin typeface="Times New Roman"/>
                <a:cs typeface="Times New Roman"/>
              </a:rPr>
              <a:t>commercial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open-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tools,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this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project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delivers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lightweight, self-</a:t>
            </a:r>
            <a:r>
              <a:rPr dirty="0" sz="1200">
                <a:latin typeface="Times New Roman"/>
                <a:cs typeface="Times New Roman"/>
              </a:rPr>
              <a:t>hosted,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45">
                <a:latin typeface="Times New Roman"/>
                <a:cs typeface="Times New Roman"/>
              </a:rPr>
              <a:t>web-</a:t>
            </a:r>
            <a:r>
              <a:rPr dirty="0" sz="1200">
                <a:latin typeface="Times New Roman"/>
                <a:cs typeface="Times New Roman"/>
              </a:rPr>
              <a:t>based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dashboard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purpose-built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30">
                <a:latin typeface="Times New Roman"/>
                <a:cs typeface="Times New Roman"/>
              </a:rPr>
              <a:t>single-</a:t>
            </a:r>
            <a:r>
              <a:rPr dirty="0" sz="1200">
                <a:latin typeface="Times New Roman"/>
                <a:cs typeface="Times New Roman"/>
              </a:rPr>
              <a:t>campus</a:t>
            </a:r>
            <a:r>
              <a:rPr dirty="0" sz="1200" spc="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network,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combining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simple </a:t>
            </a:r>
            <a:r>
              <a:rPr dirty="0" sz="1200" spc="-25">
                <a:latin typeface="Times New Roman"/>
                <a:cs typeface="Times New Roman"/>
              </a:rPr>
              <a:t>traffic-</a:t>
            </a:r>
            <a:r>
              <a:rPr dirty="0" sz="1200">
                <a:latin typeface="Times New Roman"/>
                <a:cs typeface="Times New Roman"/>
              </a:rPr>
              <a:t>light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health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model</a:t>
            </a:r>
            <a:r>
              <a:rPr dirty="0" sz="1200" spc="-8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with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modern,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responsive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front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end,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at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licensing</a:t>
            </a:r>
            <a:r>
              <a:rPr dirty="0" sz="1200" spc="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cost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without </a:t>
            </a:r>
            <a:r>
              <a:rPr dirty="0" sz="1200">
                <a:latin typeface="Times New Roman"/>
                <a:cs typeface="Times New Roman"/>
              </a:rPr>
              <a:t>sending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data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off-</a:t>
            </a:r>
            <a:r>
              <a:rPr dirty="0" sz="1200" spc="-10">
                <a:latin typeface="Times New Roman"/>
                <a:cs typeface="Times New Roman"/>
              </a:rPr>
              <a:t>campus.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7348" y="884046"/>
            <a:ext cx="5591810" cy="906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44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CHAPTER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12700" marR="5080">
              <a:lnSpc>
                <a:spcPct val="110100"/>
              </a:lnSpc>
            </a:pPr>
            <a:r>
              <a:rPr dirty="0" sz="1200" spc="-10" b="1">
                <a:latin typeface="Times New Roman"/>
                <a:cs typeface="Times New Roman"/>
              </a:rPr>
              <a:t>ENGINEERING</a:t>
            </a:r>
            <a:r>
              <a:rPr dirty="0" sz="1200" spc="-9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DESIGN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TRADE-</a:t>
            </a:r>
            <a:r>
              <a:rPr dirty="0" sz="1200" spc="-20" b="1">
                <a:latin typeface="Times New Roman"/>
                <a:cs typeface="Times New Roman"/>
              </a:rPr>
              <a:t>OFFS,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SUSTAINABILITY,</a:t>
            </a:r>
            <a:r>
              <a:rPr dirty="0" sz="1200" spc="-8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ETHICS,</a:t>
            </a:r>
            <a:r>
              <a:rPr dirty="0" sz="1200" spc="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SAFETY, </a:t>
            </a:r>
            <a:r>
              <a:rPr dirty="0" sz="1200" b="1">
                <a:latin typeface="Times New Roman"/>
                <a:cs typeface="Times New Roman"/>
              </a:rPr>
              <a:t>RISK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234565"/>
            <a:ext cx="2067560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3.1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Requirements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100">
                <a:latin typeface="Microsoft Sans Serif"/>
                <a:cs typeface="Microsoft Sans Serif"/>
              </a:rPr>
              <a:t>Stakeholder</a:t>
            </a:r>
            <a:r>
              <a:rPr dirty="0" sz="1100" spc="-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/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User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Requirements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354" y="2774314"/>
          <a:ext cx="5807075" cy="68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0"/>
                <a:gridCol w="2860675"/>
              </a:tblGrid>
              <a:tr h="191770">
                <a:tc>
                  <a:txBody>
                    <a:bodyPr/>
                    <a:lstStyle/>
                    <a:p>
                      <a:pPr algn="ctr" marL="2540">
                        <a:lnSpc>
                          <a:spcPts val="130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Stakeholder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">
                        <a:lnSpc>
                          <a:spcPts val="130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Requirement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6350">
                        <a:lnSpc>
                          <a:spcPts val="126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Campus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Administrator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231140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single,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status,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latency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bandwidth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monitored network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segment,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failure.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3454653"/>
            <a:ext cx="26619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Microsoft Sans Serif"/>
                <a:cs typeface="Microsoft Sans Serif"/>
              </a:rPr>
              <a:t>Functional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&amp;</a:t>
            </a:r>
            <a:r>
              <a:rPr dirty="0" sz="1100" spc="10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Non-</a:t>
            </a:r>
            <a:r>
              <a:rPr dirty="0" sz="1100" spc="-20">
                <a:latin typeface="Microsoft Sans Serif"/>
                <a:cs typeface="Microsoft Sans Serif"/>
              </a:rPr>
              <a:t>Functional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Requirements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354" y="3740911"/>
          <a:ext cx="5807075" cy="10363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6270"/>
                <a:gridCol w="1905634"/>
                <a:gridCol w="1906270"/>
              </a:tblGrid>
              <a:tr h="381000">
                <a:tc>
                  <a:txBody>
                    <a:bodyPr/>
                    <a:lstStyle/>
                    <a:p>
                      <a:pPr marL="524510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Requirement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ts val="1285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Type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00" spc="-40" b="1">
                          <a:latin typeface="Arial"/>
                          <a:cs typeface="Arial"/>
                        </a:rPr>
                        <a:t>(Functional/Non-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Functional)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Measurable</a:t>
                      </a:r>
                      <a:r>
                        <a:rPr dirty="0" sz="11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Target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6350">
                        <a:lnSpc>
                          <a:spcPts val="12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shall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poll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each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 marR="65405">
                        <a:lnSpc>
                          <a:spcPct val="95500"/>
                        </a:lnSpc>
                        <a:spcBef>
                          <a:spcPts val="3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monitored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configurable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interval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display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live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dashboard.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Functional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3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reflects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simulated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132080">
                        <a:lnSpc>
                          <a:spcPts val="1270"/>
                        </a:lnSpc>
                        <a:spcBef>
                          <a:spcPts val="6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fault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interval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(&lt;= 30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02004" y="5110987"/>
            <a:ext cx="26117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3.2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Constraints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Applicable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Standards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908354" y="6085331"/>
          <a:ext cx="5793105" cy="843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96365"/>
                <a:gridCol w="2146300"/>
                <a:gridCol w="2161540"/>
              </a:tblGrid>
              <a:tr h="187960">
                <a:tc>
                  <a:txBody>
                    <a:bodyPr/>
                    <a:lstStyle/>
                    <a:p>
                      <a:pPr marL="164465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Standard</a:t>
                      </a:r>
                      <a:r>
                        <a:rPr dirty="0" sz="11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Code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652780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Requirement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How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Applied</a:t>
                      </a:r>
                      <a:r>
                        <a:rPr dirty="0" sz="11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This</a:t>
                      </a:r>
                      <a:r>
                        <a:rPr dirty="0" sz="1100" spc="-6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Project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marL="6350" marR="489584">
                        <a:lnSpc>
                          <a:spcPts val="132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IETF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RFC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1157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(SNMP)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95580">
                        <a:lnSpc>
                          <a:spcPts val="132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protocol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querying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dirty="0" sz="11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counters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148590">
                        <a:lnSpc>
                          <a:spcPts val="127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service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query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SNMP-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enabled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switches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257175">
                        <a:lnSpc>
                          <a:spcPts val="125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points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uptime,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traffic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counters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02004" y="7267193"/>
            <a:ext cx="16211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3.3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Specifications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908354" y="7743825"/>
          <a:ext cx="5795010" cy="391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4635"/>
                <a:gridCol w="1524635"/>
                <a:gridCol w="1256665"/>
                <a:gridCol w="1400175"/>
              </a:tblGrid>
              <a:tr h="187960"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Parameter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Target/Requirement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Unit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6228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Priority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6350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interval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≤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30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seconds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7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Seconds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7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02004" y="8468613"/>
            <a:ext cx="25336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3.4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Alternative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Solutions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Evaluation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2004" y="9274555"/>
            <a:ext cx="6058535" cy="79121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dirty="0" sz="1100" spc="-10">
                <a:latin typeface="Microsoft Sans Serif"/>
                <a:cs typeface="Microsoft Sans Serif"/>
              </a:rPr>
              <a:t>Alternative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1: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 </a:t>
            </a:r>
            <a:r>
              <a:rPr dirty="0" sz="1100" spc="-10">
                <a:latin typeface="Microsoft Sans Serif"/>
                <a:cs typeface="Microsoft Sans Serif"/>
              </a:rPr>
              <a:t>commercial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SaaS </a:t>
            </a:r>
            <a:r>
              <a:rPr dirty="0" sz="1100" spc="-10">
                <a:latin typeface="Microsoft Sans Serif"/>
                <a:cs typeface="Microsoft Sans Serif"/>
              </a:rPr>
              <a:t>monitoring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tool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(e.g.,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PRTG)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configured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network, </a:t>
            </a:r>
            <a:r>
              <a:rPr dirty="0" sz="1100">
                <a:latin typeface="Microsoft Sans Serif"/>
                <a:cs typeface="Microsoft Sans Serif"/>
              </a:rPr>
              <a:t>using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its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built-in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alerting.</a:t>
            </a:r>
            <a:endParaRPr sz="1100">
              <a:latin typeface="Microsoft Sans Serif"/>
              <a:cs typeface="Microsoft Sans Serif"/>
            </a:endParaRPr>
          </a:p>
          <a:p>
            <a:pPr marL="12700" marR="217170">
              <a:lnSpc>
                <a:spcPts val="1300"/>
              </a:lnSpc>
              <a:spcBef>
                <a:spcPts val="810"/>
              </a:spcBef>
            </a:pPr>
            <a:r>
              <a:rPr dirty="0" sz="1100" spc="-10">
                <a:latin typeface="Microsoft Sans Serif"/>
                <a:cs typeface="Microsoft Sans Serif"/>
              </a:rPr>
              <a:t>Alternative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2: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open-source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monitoring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stack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(e.g.,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Zabbix/Grafana)</a:t>
            </a:r>
            <a:r>
              <a:rPr dirty="0" sz="1100" spc="-1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self-</a:t>
            </a:r>
            <a:r>
              <a:rPr dirty="0" sz="1100">
                <a:latin typeface="Microsoft Sans Serif"/>
                <a:cs typeface="Microsoft Sans Serif"/>
              </a:rPr>
              <a:t>hosted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on</a:t>
            </a:r>
            <a:r>
              <a:rPr dirty="0" sz="1100" spc="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campus </a:t>
            </a:r>
            <a:r>
              <a:rPr dirty="0" sz="1100">
                <a:latin typeface="Microsoft Sans Serif"/>
                <a:cs typeface="Microsoft Sans Serif"/>
              </a:rPr>
              <a:t>server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customised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network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health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visualisation.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908354" y="10122153"/>
          <a:ext cx="5807710" cy="191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35"/>
                <a:gridCol w="762635"/>
                <a:gridCol w="1268730"/>
                <a:gridCol w="1271904"/>
                <a:gridCol w="1271904"/>
              </a:tblGrid>
              <a:tr h="191135"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Criterion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Weight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352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Alternative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Alternative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Alternative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914400" y="5416295"/>
            <a:ext cx="5739765" cy="573405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9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List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only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constraints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that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actually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apply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(technical,</a:t>
            </a:r>
            <a:r>
              <a:rPr dirty="0" sz="1100" spc="-1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economic,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environmental,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social,</a:t>
            </a:r>
            <a:r>
              <a:rPr dirty="0" sz="110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health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&amp;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safety,</a:t>
            </a:r>
            <a:r>
              <a:rPr dirty="0" sz="1100" spc="-9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ethical,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regulatory)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do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pad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with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irrelevant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categories.</a:t>
            </a:r>
            <a:r>
              <a:rPr dirty="0" sz="1100" spc="-8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Name</a:t>
            </a:r>
            <a:r>
              <a:rPr dirty="0" sz="1100" spc="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specific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standard,</a:t>
            </a:r>
            <a:r>
              <a:rPr dirty="0" sz="1100" spc="-10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just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'IEEE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standards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were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followed.'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8763000"/>
            <a:ext cx="5739765" cy="521334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00"/>
              </a:lnSpc>
            </a:pP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Describe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each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alternative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2–3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sentences</a:t>
            </a:r>
            <a:r>
              <a:rPr dirty="0" sz="1100" spc="-9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max,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then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let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evaluation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matrix</a:t>
            </a:r>
            <a:r>
              <a:rPr dirty="0" sz="1100" spc="-1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carry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comparison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do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repeat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same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comparison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prose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afterward.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354" y="871727"/>
          <a:ext cx="5807710" cy="1115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635"/>
                <a:gridCol w="762635"/>
                <a:gridCol w="1268730"/>
                <a:gridCol w="1271904"/>
                <a:gridCol w="1271904"/>
              </a:tblGrid>
              <a:tr h="200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Performance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30%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3175">
                        <a:lnSpc>
                          <a:spcPts val="1280"/>
                        </a:lnSpc>
                      </a:pPr>
                      <a:r>
                        <a:rPr dirty="0" sz="1100" spc="-20">
                          <a:latin typeface="Microsoft Sans Serif"/>
                          <a:cs typeface="Microsoft Sans Serif"/>
                        </a:rPr>
                        <a:t>Cost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25%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(subscription)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Medium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(hosting)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(self-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hosted,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8255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free)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8595">
                <a:tc>
                  <a:txBody>
                    <a:bodyPr/>
                    <a:lstStyle/>
                    <a:p>
                      <a:pPr algn="ctr" marL="6350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Safety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15%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Sustainability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10%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1135">
                <a:tc>
                  <a:txBody>
                    <a:bodyPr/>
                    <a:lstStyle/>
                    <a:p>
                      <a:pPr algn="ctr">
                        <a:lnSpc>
                          <a:spcPts val="1280"/>
                        </a:lnSpc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Reliability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20%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High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222375"/>
            <a:ext cx="2475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3.5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Selected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Design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Detailed</a:t>
            </a:r>
            <a:r>
              <a:rPr dirty="0" sz="1200" spc="-10" b="1">
                <a:latin typeface="Times New Roman"/>
                <a:cs typeface="Times New Roman"/>
              </a:rPr>
              <a:t> Design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392171"/>
            <a:ext cx="6040755" cy="324485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95500"/>
              </a:lnSpc>
              <a:spcBef>
                <a:spcPts val="160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custom-built</a:t>
            </a:r>
            <a:r>
              <a:rPr dirty="0" sz="1100" spc="-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lightweight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web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(Alternative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3)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selected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because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offers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best </a:t>
            </a:r>
            <a:r>
              <a:rPr dirty="0" sz="1100">
                <a:latin typeface="Microsoft Sans Serif"/>
                <a:cs typeface="Microsoft Sans Serif"/>
              </a:rPr>
              <a:t>balance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cost,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control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over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data,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simple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interface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tailored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team's</a:t>
            </a:r>
            <a:r>
              <a:rPr dirty="0" sz="1100" spc="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actual workflow,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shown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trade-off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analysis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Section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3.6.</a:t>
            </a:r>
            <a:endParaRPr sz="1100">
              <a:latin typeface="Microsoft Sans Serif"/>
              <a:cs typeface="Microsoft Sans Serif"/>
            </a:endParaRPr>
          </a:p>
          <a:p>
            <a:pPr marL="12700" marR="304165">
              <a:lnSpc>
                <a:spcPct val="141800"/>
              </a:lnSpc>
              <a:spcBef>
                <a:spcPts val="145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system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follows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three-</a:t>
            </a:r>
            <a:r>
              <a:rPr dirty="0" sz="1100" spc="-10">
                <a:latin typeface="Microsoft Sans Serif"/>
                <a:cs typeface="Microsoft Sans Serif"/>
              </a:rPr>
              <a:t>tier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architecture: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Python-based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polling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service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queries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campus </a:t>
            </a:r>
            <a:r>
              <a:rPr dirty="0" sz="1100">
                <a:latin typeface="Microsoft Sans Serif"/>
                <a:cs typeface="Microsoft Sans Serif"/>
              </a:rPr>
              <a:t>devices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over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SNMP/ICMP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at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fixed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intervals;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REST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(Node.js/Express)</a:t>
            </a:r>
            <a:r>
              <a:rPr dirty="0" sz="1100" spc="-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stores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results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a</a:t>
            </a:r>
            <a:endParaRPr sz="1100">
              <a:latin typeface="Microsoft Sans Serif"/>
              <a:cs typeface="Microsoft Sans Serif"/>
            </a:endParaRPr>
          </a:p>
          <a:p>
            <a:pPr marL="12700" marR="177165">
              <a:lnSpc>
                <a:spcPts val="2160"/>
              </a:lnSpc>
              <a:spcBef>
                <a:spcPts val="190"/>
              </a:spcBef>
            </a:pPr>
            <a:r>
              <a:rPr dirty="0" sz="1100">
                <a:latin typeface="Microsoft Sans Serif"/>
                <a:cs typeface="Microsoft Sans Serif"/>
              </a:rPr>
              <a:t>database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exposes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endpoints</a:t>
            </a:r>
            <a:r>
              <a:rPr dirty="0" sz="1100" spc="-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front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end;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React-based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single-page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dashboard </a:t>
            </a:r>
            <a:r>
              <a:rPr dirty="0" sz="1100">
                <a:latin typeface="Microsoft Sans Serif"/>
                <a:cs typeface="Microsoft Sans Serif"/>
              </a:rPr>
              <a:t>consumes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this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WebSocket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feed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render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live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device-</a:t>
            </a:r>
            <a:r>
              <a:rPr dirty="0" sz="1100">
                <a:latin typeface="Microsoft Sans Serif"/>
                <a:cs typeface="Microsoft Sans Serif"/>
              </a:rPr>
              <a:t>status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maps,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latency/bandwidth </a:t>
            </a:r>
            <a:r>
              <a:rPr dirty="0" sz="1100">
                <a:latin typeface="Microsoft Sans Serif"/>
                <a:cs typeface="Microsoft Sans Serif"/>
              </a:rPr>
              <a:t>charts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banners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(see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Appendix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architecture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diagram).</a:t>
            </a:r>
            <a:endParaRPr sz="1100">
              <a:latin typeface="Microsoft Sans Serif"/>
              <a:cs typeface="Microsoft Sans Serif"/>
            </a:endParaRPr>
          </a:p>
          <a:p>
            <a:pPr marL="12700" marR="637540">
              <a:lnSpc>
                <a:spcPct val="111000"/>
              </a:lnSpc>
              <a:spcBef>
                <a:spcPts val="650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polling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service,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database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are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loosely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coupled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through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layer,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any </a:t>
            </a:r>
            <a:r>
              <a:rPr dirty="0" sz="1100">
                <a:latin typeface="Microsoft Sans Serif"/>
                <a:cs typeface="Microsoft Sans Serif"/>
              </a:rPr>
              <a:t>subsystem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can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be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scaled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replaced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independently;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front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depends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only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on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the </a:t>
            </a:r>
            <a:r>
              <a:rPr dirty="0" sz="1100">
                <a:latin typeface="Microsoft Sans Serif"/>
                <a:cs typeface="Microsoft Sans Serif"/>
              </a:rPr>
              <a:t>documented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REST/WebSocket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contract,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allowing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web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-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this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author's </a:t>
            </a:r>
            <a:r>
              <a:rPr dirty="0" sz="1100">
                <a:latin typeface="Microsoft Sans Serif"/>
                <a:cs typeface="Microsoft Sans Serif"/>
              </a:rPr>
              <a:t>contribution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-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developed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tested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against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mock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before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full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backend integration.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3.6 </a:t>
            </a:r>
            <a:r>
              <a:rPr dirty="0" sz="1200" spc="-45" b="1">
                <a:latin typeface="Times New Roman"/>
                <a:cs typeface="Times New Roman"/>
              </a:rPr>
              <a:t>Trade-</a:t>
            </a:r>
            <a:r>
              <a:rPr dirty="0" sz="1200" b="1">
                <a:latin typeface="Times New Roman"/>
                <a:cs typeface="Times New Roman"/>
              </a:rPr>
              <a:t>off</a:t>
            </a:r>
            <a:r>
              <a:rPr dirty="0" sz="1200" spc="9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Analysis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354" y="5704077"/>
          <a:ext cx="5779770" cy="18376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1570"/>
                <a:gridCol w="1143634"/>
                <a:gridCol w="1128395"/>
                <a:gridCol w="1143635"/>
                <a:gridCol w="1143635"/>
              </a:tblGrid>
              <a:tr h="381000">
                <a:tc>
                  <a:txBody>
                    <a:bodyPr/>
                    <a:lstStyle/>
                    <a:p>
                      <a:pPr marL="24130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Design</a:t>
                      </a:r>
                      <a:r>
                        <a:rPr dirty="0" sz="11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Decision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13995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Alternative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marL="18923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Considered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33375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Benefit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9539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Disadvantage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6670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Final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Decision</a:t>
                      </a:r>
                      <a:r>
                        <a:rPr dirty="0" sz="1100" spc="-9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50" b="1">
                          <a:latin typeface="Arial"/>
                          <a:cs typeface="Arial"/>
                        </a:rPr>
                        <a:t>&amp;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 marL="222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Justification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1456690">
                <a:tc>
                  <a:txBody>
                    <a:bodyPr/>
                    <a:lstStyle/>
                    <a:p>
                      <a:pPr marL="6350" marR="514350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Backend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framework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marR="193675">
                        <a:lnSpc>
                          <a:spcPts val="1270"/>
                        </a:lnSpc>
                        <a:spcBef>
                          <a:spcPts val="2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Zabbix/Grafana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stack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custom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Node.js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API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02235">
                        <a:lnSpc>
                          <a:spcPts val="1270"/>
                        </a:lnSpc>
                        <a:spcBef>
                          <a:spcPts val="1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gives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full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over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>
                        <a:lnSpc>
                          <a:spcPts val="12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lighter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footprint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marR="97790">
                        <a:lnSpc>
                          <a:spcPts val="127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building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alerting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logic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from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scratch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instead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795">
                        <a:lnSpc>
                          <a:spcPts val="11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reusing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mature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795">
                        <a:lnSpc>
                          <a:spcPts val="129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engine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marR="222885">
                        <a:lnSpc>
                          <a:spcPts val="1270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Custom Node.js/Express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chosen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-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430">
                        <a:lnSpc>
                          <a:spcPts val="119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justified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the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430" marR="229870">
                        <a:lnSpc>
                          <a:spcPct val="959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lightweight, campus-specific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schema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licensing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cost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02004" y="7871205"/>
            <a:ext cx="31991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3.7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Sustainability,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Ethics,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Safety,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Risk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Security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8354" y="8850502"/>
          <a:ext cx="5803900" cy="1517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/>
                <a:gridCol w="1473200"/>
                <a:gridCol w="1460499"/>
                <a:gridCol w="1512570"/>
              </a:tblGrid>
              <a:tr h="368935">
                <a:tc>
                  <a:txBody>
                    <a:bodyPr/>
                    <a:lstStyle/>
                    <a:p>
                      <a:pPr algn="ctr" marL="9525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Domain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69240" marR="3175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Consideration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Evidence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Evaluated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160">
                        <a:lnSpc>
                          <a:spcPts val="129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Impact</a:t>
                      </a:r>
                      <a:r>
                        <a:rPr dirty="0" sz="11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100" spc="-3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Final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 marL="508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Decision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Sustainability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6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marR="132080">
                        <a:lnSpc>
                          <a:spcPct val="946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Reuses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existing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campus hardware;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new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equipment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purchased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81280">
                        <a:lnSpc>
                          <a:spcPct val="946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Confirmed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design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avoids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additional embedded/IoT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hardware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8735">
                        <a:lnSpc>
                          <a:spcPct val="9460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Reinforced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pure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software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(web)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solution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marL="7620">
                        <a:lnSpc>
                          <a:spcPts val="1295"/>
                        </a:lnSpc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Ethics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525">
                        <a:lnSpc>
                          <a:spcPts val="127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1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dirty="0" sz="1100" spc="1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may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reveal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usage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patterns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staff/students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2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to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marR="112395">
                        <a:lnSpc>
                          <a:spcPct val="955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authorised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IT staff;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device/link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metadata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collected,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user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261620">
                        <a:lnSpc>
                          <a:spcPts val="127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was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scoped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administrators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only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4400" y="1523999"/>
            <a:ext cx="5739765" cy="890269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80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Justify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selection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with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evidence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3.4,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preference.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Use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diagrams/schematics/flowcharts/CAD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single</a:t>
            </a:r>
            <a:r>
              <a:rPr dirty="0" sz="1100" spc="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labelled</a:t>
            </a:r>
            <a:r>
              <a:rPr dirty="0" sz="1100" spc="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diagram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should</a:t>
            </a:r>
            <a:r>
              <a:rPr dirty="0" sz="1100" spc="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replace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1–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2</a:t>
            </a:r>
            <a:endParaRPr sz="1100">
              <a:latin typeface="Arial"/>
              <a:cs typeface="Arial"/>
            </a:endParaRPr>
          </a:p>
          <a:p>
            <a:pPr marR="271145">
              <a:lnSpc>
                <a:spcPct val="110900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paragraphs</a:t>
            </a:r>
            <a:r>
              <a:rPr dirty="0" sz="1100" spc="-1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description.</a:t>
            </a:r>
            <a:r>
              <a:rPr dirty="0" sz="1100" spc="-10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Include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only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essential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calculations;</a:t>
            </a:r>
            <a:r>
              <a:rPr dirty="0" sz="1100" spc="-9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move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lengthy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derivations</a:t>
            </a:r>
            <a:r>
              <a:rPr dirty="0" sz="110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to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Appendix</a:t>
            </a:r>
            <a:r>
              <a:rPr dirty="0" sz="1100" spc="-10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A.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8183879"/>
            <a:ext cx="5739765" cy="57023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8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This</a:t>
            </a:r>
            <a:r>
              <a:rPr dirty="0" sz="1100" spc="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is</a:t>
            </a:r>
            <a:r>
              <a:rPr dirty="0" sz="1100" spc="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section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institutional</a:t>
            </a:r>
            <a:r>
              <a:rPr dirty="0" sz="1100" spc="-9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guidelines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flag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most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for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vague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statements.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Never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write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'sustainability</a:t>
            </a:r>
            <a:r>
              <a:rPr dirty="0" sz="1100" spc="-1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was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considered'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table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must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show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what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evidence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was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evaluated</a:t>
            </a:r>
            <a:r>
              <a:rPr dirty="0" sz="1100" spc="-8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and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how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it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changed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design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decision.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08354" y="1200911"/>
          <a:ext cx="5794375" cy="16598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730"/>
                <a:gridCol w="1463675"/>
                <a:gridCol w="1460499"/>
                <a:gridCol w="1512570"/>
              </a:tblGrid>
              <a:tr h="1885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5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content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ctr" marL="3175">
                        <a:lnSpc>
                          <a:spcPts val="1305"/>
                        </a:lnSpc>
                      </a:pP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Health</a:t>
                      </a:r>
                      <a:r>
                        <a:rPr dirty="0" sz="1100" spc="-3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>
                          <a:latin typeface="Microsoft Sans Serif"/>
                          <a:cs typeface="Microsoft Sans Serif"/>
                        </a:rPr>
                        <a:t>&amp;</a:t>
                      </a:r>
                      <a:r>
                        <a:rPr dirty="0" sz="1100" spc="-25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Safety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just" marL="9525">
                        <a:lnSpc>
                          <a:spcPts val="120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physically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just" marL="9525" marR="330200">
                        <a:lnSpc>
                          <a:spcPct val="95600"/>
                        </a:lnSpc>
                        <a:spcBef>
                          <a:spcPts val="3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hazardous;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purely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software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monitoring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layer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245110">
                        <a:lnSpc>
                          <a:spcPts val="132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physical/electrical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identified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510540">
                        <a:lnSpc>
                          <a:spcPts val="1320"/>
                        </a:lnSpc>
                        <a:spcBef>
                          <a:spcPts val="1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change required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10">
                          <a:latin typeface="Microsoft Sans Serif"/>
                          <a:cs typeface="Microsoft Sans Serif"/>
                        </a:rPr>
                        <a:t>Security</a:t>
                      </a:r>
                      <a:endParaRPr sz="11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1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Read-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SNMP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525" marR="65405">
                        <a:lnSpc>
                          <a:spcPct val="95800"/>
                        </a:lnSpc>
                        <a:spcBef>
                          <a:spcPts val="3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credentials</a:t>
                      </a:r>
                      <a:r>
                        <a:rPr dirty="0" sz="1100" spc="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authentication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needed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prevent unauthorised</a:t>
                      </a:r>
                      <a:r>
                        <a:rPr dirty="0" sz="110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access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67005">
                        <a:lnSpc>
                          <a:spcPts val="127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SNMP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community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strings kept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read-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only;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" marR="167005">
                        <a:lnSpc>
                          <a:spcPts val="125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access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gated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behind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login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76555">
                        <a:lnSpc>
                          <a:spcPts val="1270"/>
                        </a:lnSpc>
                        <a:spcBef>
                          <a:spcPts val="5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Authentication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layer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added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web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541020">
                        <a:lnSpc>
                          <a:spcPts val="1250"/>
                        </a:lnSpc>
                        <a:spcBef>
                          <a:spcPts val="2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before deployment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3360546" y="2857245"/>
            <a:ext cx="8534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icrosoft Sans Serif"/>
                <a:cs typeface="Microsoft Sans Serif"/>
              </a:rPr>
              <a:t>Risk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Register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8354" y="3143122"/>
          <a:ext cx="5794375" cy="1196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330"/>
                <a:gridCol w="777875"/>
                <a:gridCol w="774700"/>
                <a:gridCol w="875030"/>
                <a:gridCol w="1259205"/>
                <a:gridCol w="902335"/>
              </a:tblGrid>
              <a:tr h="381000">
                <a:tc>
                  <a:txBody>
                    <a:bodyPr/>
                    <a:lstStyle/>
                    <a:p>
                      <a:pPr algn="ctr" marL="14604">
                        <a:lnSpc>
                          <a:spcPts val="1285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Risk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6355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Likelihood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Severity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Risk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Level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09245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Mitigation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ts val="128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Residual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 marL="1397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Risk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815975">
                <a:tc>
                  <a:txBody>
                    <a:bodyPr/>
                    <a:lstStyle/>
                    <a:p>
                      <a:pPr marL="6350">
                        <a:lnSpc>
                          <a:spcPts val="131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overload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Medium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1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conservative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154305">
                        <a:lnSpc>
                          <a:spcPct val="9580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default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polling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interval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stagger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requests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across devices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60"/>
                        </a:lnSpc>
                      </a:pP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Low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5408295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5877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CHAPTER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L="35306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IMPLEMENTATION,</a:t>
            </a:r>
            <a:r>
              <a:rPr dirty="0" sz="1200" spc="-9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TESTING</a:t>
            </a:r>
            <a:r>
              <a:rPr dirty="0" sz="1200" spc="-8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RESULTS,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PROJECT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MANAGEMENT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4.1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Development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Approach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Resources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2541218"/>
            <a:ext cx="6034405" cy="1007744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ct val="95800"/>
              </a:lnSpc>
              <a:spcBef>
                <a:spcPts val="160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system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was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developed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iteratively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using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Agile-inspired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approach: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data-</a:t>
            </a:r>
            <a:r>
              <a:rPr dirty="0" sz="1100" spc="-10">
                <a:latin typeface="Microsoft Sans Serif"/>
                <a:cs typeface="Microsoft Sans Serif"/>
              </a:rPr>
              <a:t>collection</a:t>
            </a:r>
            <a:r>
              <a:rPr dirty="0" sz="1100" spc="-10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and</a:t>
            </a:r>
            <a:r>
              <a:rPr dirty="0" sz="1100" spc="50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layers were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built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unit-tested</a:t>
            </a:r>
            <a:r>
              <a:rPr dirty="0" sz="1100" spc="-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first,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followed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by incremental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development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dashboard's </a:t>
            </a:r>
            <a:r>
              <a:rPr dirty="0" sz="1100">
                <a:latin typeface="Microsoft Sans Serif"/>
                <a:cs typeface="Microsoft Sans Serif"/>
              </a:rPr>
              <a:t>UI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components,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with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each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sprint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ending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working,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demonstrable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increment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integrated</a:t>
            </a:r>
            <a:r>
              <a:rPr dirty="0" sz="1100" spc="-10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against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live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test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network.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dirty="0" sz="1200" b="1">
                <a:latin typeface="Times New Roman"/>
                <a:cs typeface="Times New Roman"/>
              </a:rPr>
              <a:t>4.2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Hardware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Software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Fabrication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Implementation</a:t>
            </a:r>
            <a:r>
              <a:rPr dirty="0" sz="1200" spc="-9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Modern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Tools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Used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4141977"/>
            <a:ext cx="5955030" cy="83756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ct val="96000"/>
              </a:lnSpc>
              <a:spcBef>
                <a:spcPts val="155"/>
              </a:spcBef>
            </a:pPr>
            <a:r>
              <a:rPr dirty="0" sz="1100">
                <a:latin typeface="Microsoft Sans Serif"/>
                <a:cs typeface="Microsoft Sans Serif"/>
              </a:rPr>
              <a:t>On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software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side,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Python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polling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script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queries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network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devices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over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SNMP/ICMP,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a </a:t>
            </a:r>
            <a:r>
              <a:rPr dirty="0" sz="1100" spc="-10">
                <a:latin typeface="Microsoft Sans Serif"/>
                <a:cs typeface="Microsoft Sans Serif"/>
              </a:rPr>
              <a:t>Node.js/Express</a:t>
            </a:r>
            <a:r>
              <a:rPr dirty="0" sz="1100" spc="-114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REST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API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persists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readings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database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exposes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JSON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endpoints,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50">
                <a:latin typeface="Microsoft Sans Serif"/>
                <a:cs typeface="Microsoft Sans Serif"/>
              </a:rPr>
              <a:t> a </a:t>
            </a:r>
            <a:r>
              <a:rPr dirty="0" sz="1100" spc="-10">
                <a:latin typeface="Microsoft Sans Serif"/>
                <a:cs typeface="Microsoft Sans Serif"/>
              </a:rPr>
              <a:t>React.js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front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end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(the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author's</a:t>
            </a:r>
            <a:r>
              <a:rPr dirty="0" sz="1100" spc="-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primary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contribution)</a:t>
            </a:r>
            <a:r>
              <a:rPr dirty="0" sz="1100" spc="-9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renders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live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using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chart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25">
                <a:latin typeface="Microsoft Sans Serif"/>
                <a:cs typeface="Microsoft Sans Serif"/>
              </a:rPr>
              <a:t>and </a:t>
            </a:r>
            <a:r>
              <a:rPr dirty="0" sz="1100">
                <a:latin typeface="Microsoft Sans Serif"/>
                <a:cs typeface="Microsoft Sans Serif"/>
              </a:rPr>
              <a:t>mapping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libraries;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new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hardware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fabricated,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project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uses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campus's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existing switches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access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points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as </a:t>
            </a:r>
            <a:r>
              <a:rPr dirty="0" sz="1100" spc="-10">
                <a:latin typeface="Microsoft Sans Serif"/>
                <a:cs typeface="Microsoft Sans Serif"/>
              </a:rPr>
              <a:t>monitored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devices.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8354" y="5042661"/>
          <a:ext cx="5795010" cy="538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6270"/>
                <a:gridCol w="1905634"/>
                <a:gridCol w="1894204"/>
              </a:tblGrid>
              <a:tr h="203835">
                <a:tc>
                  <a:txBody>
                    <a:bodyPr/>
                    <a:lstStyle/>
                    <a:p>
                      <a:pPr marL="36830">
                        <a:lnSpc>
                          <a:spcPts val="131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Tool</a:t>
                      </a:r>
                      <a:r>
                        <a:rPr dirty="0" sz="1100" spc="-8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1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Software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-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Equipment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Purpose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68960">
                        <a:lnSpc>
                          <a:spcPts val="131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Stage</a:t>
                      </a:r>
                      <a:r>
                        <a:rPr dirty="0" sz="11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Used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React.js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296545">
                        <a:lnSpc>
                          <a:spcPts val="132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Building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responsive dashboard</a:t>
                      </a:r>
                      <a:r>
                        <a:rPr dirty="0" sz="11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UI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live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charts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marR="347345">
                        <a:lnSpc>
                          <a:spcPts val="132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02004" y="5578220"/>
            <a:ext cx="4320540" cy="5530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Microsoft Sans Serif"/>
                <a:cs typeface="Microsoft Sans Serif"/>
              </a:rPr>
              <a:t>(See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Appendix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 for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screenshots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prototype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evidence.)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4.3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Test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Plan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Verification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8354" y="6521195"/>
          <a:ext cx="5808980" cy="1405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8435"/>
                <a:gridCol w="457834"/>
                <a:gridCol w="1003300"/>
                <a:gridCol w="902969"/>
                <a:gridCol w="558800"/>
                <a:gridCol w="1348739"/>
              </a:tblGrid>
              <a:tr h="188595">
                <a:tc gridSpan="2">
                  <a:txBody>
                    <a:bodyPr/>
                    <a:lstStyle/>
                    <a:p>
                      <a:pPr marL="524510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Requirement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546735">
                        <a:lnSpc>
                          <a:spcPts val="1290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Test</a:t>
                      </a:r>
                      <a:r>
                        <a:rPr dirty="0" sz="1100" spc="-12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Method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54635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Acceptance</a:t>
                      </a:r>
                      <a:r>
                        <a:rPr dirty="0" sz="1100" spc="-2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Criterion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95934">
                <a:tc gridSpan="2">
                  <a:txBody>
                    <a:bodyPr/>
                    <a:lstStyle/>
                    <a:p>
                      <a:pPr marL="6350" marR="222885">
                        <a:lnSpc>
                          <a:spcPts val="1320"/>
                        </a:lnSpc>
                        <a:spcBef>
                          <a:spcPts val="2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reflects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live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device status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algn="just" marL="6985" marR="199390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Simulate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link</a:t>
                      </a:r>
                      <a:r>
                        <a:rPr dirty="0" sz="110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failure</a:t>
                      </a:r>
                      <a:r>
                        <a:rPr dirty="0" sz="11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dirty="0" sz="110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test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observe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time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620" marR="285115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dirty="0" sz="11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change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visible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polling interval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8595">
                <a:tc>
                  <a:txBody>
                    <a:bodyPr/>
                    <a:lstStyle/>
                    <a:p>
                      <a:pPr marL="292735">
                        <a:lnSpc>
                          <a:spcPts val="131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Specification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35585">
                        <a:lnSpc>
                          <a:spcPts val="1315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Required</a:t>
                      </a:r>
                      <a:r>
                        <a:rPr dirty="0" sz="11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Value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223520">
                        <a:lnSpc>
                          <a:spcPts val="1315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Achieved</a:t>
                      </a:r>
                      <a:r>
                        <a:rPr dirty="0" sz="110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Value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9695">
                        <a:lnSpc>
                          <a:spcPts val="1315"/>
                        </a:lnSpc>
                      </a:pPr>
                      <a:r>
                        <a:rPr dirty="0" sz="1100" b="1">
                          <a:latin typeface="Arial"/>
                          <a:cs typeface="Arial"/>
                        </a:rPr>
                        <a:t>Status</a:t>
                      </a:r>
                      <a:r>
                        <a:rPr dirty="0" sz="11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(Pass/Fail)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6350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interval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985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&lt;= 30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7620">
                        <a:lnSpc>
                          <a:spcPts val="127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22</a:t>
                      </a:r>
                      <a:r>
                        <a:rPr dirty="0" sz="11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 (avg.)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70"/>
                        </a:lnSpc>
                      </a:pP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Pass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8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02004" y="8072373"/>
            <a:ext cx="7245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4.4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Results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004" y="8869120"/>
            <a:ext cx="5941060" cy="84963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>
              <a:lnSpc>
                <a:spcPct val="95600"/>
              </a:lnSpc>
              <a:spcBef>
                <a:spcPts val="165"/>
              </a:spcBef>
            </a:pPr>
            <a:r>
              <a:rPr dirty="0" sz="1100">
                <a:latin typeface="Microsoft Sans Serif"/>
                <a:cs typeface="Microsoft Sans Serif"/>
              </a:rPr>
              <a:t>Testing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against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test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network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showed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dashboard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correctly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reflected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simulated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link </a:t>
            </a:r>
            <a:r>
              <a:rPr dirty="0" sz="1100" spc="-10">
                <a:latin typeface="Microsoft Sans Serif"/>
                <a:cs typeface="Microsoft Sans Serif"/>
              </a:rPr>
              <a:t>failures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within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configured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polling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interval,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with live</a:t>
            </a:r>
            <a:r>
              <a:rPr dirty="0" sz="1100" spc="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charts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updating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without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perceptible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lag</a:t>
            </a:r>
            <a:r>
              <a:rPr dirty="0" sz="1100" spc="-25">
                <a:latin typeface="Microsoft Sans Serif"/>
                <a:cs typeface="Microsoft Sans Serif"/>
              </a:rPr>
              <a:t> for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monitored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device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set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(see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Appendix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recorded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test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data).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200" b="1">
                <a:latin typeface="Times New Roman"/>
                <a:cs typeface="Times New Roman"/>
              </a:rPr>
              <a:t>4.5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Data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Analysis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Judgment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10304779"/>
            <a:ext cx="584009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results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indicate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that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chosen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polling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interval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is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sufficient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catch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simulated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faults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quickly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057399"/>
            <a:ext cx="5739765" cy="50927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8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One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paragraph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dirty="0" sz="1100" spc="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methodology,</a:t>
            </a:r>
            <a:r>
              <a:rPr dirty="0" sz="1100" spc="-10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one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line/table</a:t>
            </a:r>
            <a:r>
              <a:rPr dirty="0" sz="1100" spc="-10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materials,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components,</a:t>
            </a:r>
            <a:r>
              <a:rPr dirty="0" sz="110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dataset,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or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resources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used.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3642359"/>
            <a:ext cx="5739765" cy="521334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Use</a:t>
            </a:r>
            <a:r>
              <a:rPr dirty="0" sz="1100" spc="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subheadings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(not</a:t>
            </a:r>
            <a:r>
              <a:rPr dirty="0" sz="1100" spc="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chapters)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for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whichever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1100" spc="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hardware/software/fabrication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apply.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Only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list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tools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you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can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show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purposeful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use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generic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software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list.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6220967"/>
            <a:ext cx="5739765" cy="20447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9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Define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test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plan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BEFORE</a:t>
            </a:r>
            <a:r>
              <a:rPr dirty="0" sz="1100" spc="-114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presenting</a:t>
            </a:r>
            <a:r>
              <a:rPr dirty="0" sz="1100" spc="-9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results.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8378952"/>
            <a:ext cx="5739765" cy="50927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Present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measurements,</a:t>
            </a:r>
            <a:r>
              <a:rPr dirty="0" sz="1100" spc="-1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graphs,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key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data.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Let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visuals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carry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weight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do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re-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describe</a:t>
            </a:r>
            <a:r>
              <a:rPr dirty="0" sz="110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every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number</a:t>
            </a:r>
            <a:r>
              <a:rPr dirty="0" sz="1100" spc="-9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already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shown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graph.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9805415"/>
            <a:ext cx="5739765" cy="521334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9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Interpret</a:t>
            </a:r>
            <a:r>
              <a:rPr dirty="0" sz="1100" spc="-3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data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(statistical/error/accuracy/performance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metrics</a:t>
            </a:r>
            <a:r>
              <a:rPr dirty="0" sz="1100" spc="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as</a:t>
            </a:r>
            <a:r>
              <a:rPr dirty="0" sz="1100" spc="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relevant).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Where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results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deviated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dirty="0" sz="1100" spc="-6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expectations,</a:t>
            </a:r>
            <a:r>
              <a:rPr dirty="0" sz="1100" spc="-7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explain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why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engineering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implication.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58138"/>
            <a:ext cx="6043295" cy="52324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300"/>
              </a:lnSpc>
              <a:spcBef>
                <a:spcPts val="160"/>
              </a:spcBef>
            </a:pPr>
            <a:r>
              <a:rPr dirty="0" sz="1100">
                <a:latin typeface="Microsoft Sans Serif"/>
                <a:cs typeface="Microsoft Sans Serif"/>
              </a:rPr>
              <a:t>while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keeping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load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monitored</a:t>
            </a:r>
            <a:r>
              <a:rPr dirty="0" sz="1100" spc="-9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devices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low,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confirming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design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trade-off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made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Chapter</a:t>
            </a:r>
            <a:r>
              <a:rPr dirty="0" sz="1100" spc="-10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3;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50">
                <a:latin typeface="Microsoft Sans Serif"/>
                <a:cs typeface="Microsoft Sans Serif"/>
              </a:rPr>
              <a:t>a </a:t>
            </a:r>
            <a:r>
              <a:rPr dirty="0" sz="1100">
                <a:latin typeface="Microsoft Sans Serif"/>
                <a:cs typeface="Microsoft Sans Serif"/>
              </a:rPr>
              <a:t>small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number</a:t>
            </a:r>
            <a:r>
              <a:rPr dirty="0" sz="1100" spc="-8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false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alerts observed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during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 spc="-20">
                <a:latin typeface="Microsoft Sans Serif"/>
                <a:cs typeface="Microsoft Sans Serif"/>
              </a:rPr>
              <a:t>Wi-</a:t>
            </a:r>
            <a:r>
              <a:rPr dirty="0" sz="1100">
                <a:latin typeface="Microsoft Sans Serif"/>
                <a:cs typeface="Microsoft Sans Serif"/>
              </a:rPr>
              <a:t>Fi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roaming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events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were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traced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short-</a:t>
            </a:r>
            <a:r>
              <a:rPr dirty="0" sz="1100" spc="-10">
                <a:latin typeface="Microsoft Sans Serif"/>
                <a:cs typeface="Microsoft Sans Serif"/>
              </a:rPr>
              <a:t>lived </a:t>
            </a:r>
            <a:r>
              <a:rPr dirty="0" sz="1100">
                <a:latin typeface="Microsoft Sans Serif"/>
                <a:cs typeface="Microsoft Sans Serif"/>
              </a:rPr>
              <a:t>packet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loss</a:t>
            </a:r>
            <a:r>
              <a:rPr dirty="0" sz="1100" spc="-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rather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than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genuine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link</a:t>
            </a:r>
            <a:r>
              <a:rPr dirty="0" sz="1100" spc="1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failures,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 area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noted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refinement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future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work.</a:t>
            </a:r>
            <a:endParaRPr sz="1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4511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4.6</a:t>
            </a:r>
            <a:r>
              <a:rPr dirty="0" sz="1200" spc="-7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Comparison with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Existing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Solutions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Achievement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of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Objectives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354" y="1173479"/>
          <a:ext cx="5807710" cy="1066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6270"/>
                <a:gridCol w="2275205"/>
                <a:gridCol w="1537335"/>
              </a:tblGrid>
              <a:tr h="572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Objective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Evidence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72720" marR="151765" indent="-635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Achievement (Fully/Partially/Not</a:t>
                      </a:r>
                      <a:endParaRPr sz="1100">
                        <a:latin typeface="Arial"/>
                        <a:cs typeface="Arial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  <a:spcBef>
                          <a:spcPts val="114"/>
                        </a:spcBef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Achieved)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1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6350" marR="205740">
                        <a:lnSpc>
                          <a:spcPts val="1320"/>
                        </a:lnSpc>
                        <a:spcBef>
                          <a:spcPts val="20"/>
                        </a:spcBef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dirty="0" sz="11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live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dirty="0" sz="11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status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alerts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165735">
                        <a:lnSpc>
                          <a:spcPts val="1270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correctly</a:t>
                      </a:r>
                      <a:r>
                        <a:rPr dirty="0" sz="11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displayed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simulated</a:t>
                      </a:r>
                      <a:r>
                        <a:rPr dirty="0" sz="11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faults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dirty="0" sz="11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configured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polling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interval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dirty="0" sz="11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testing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>
                        <a:lnSpc>
                          <a:spcPts val="125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Achieved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02004" y="2387600"/>
            <a:ext cx="18256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4.7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Strengths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Limitations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004" y="3000501"/>
            <a:ext cx="5829300" cy="1339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Microsoft Sans Serif"/>
                <a:cs typeface="Microsoft Sans Serif"/>
              </a:rPr>
              <a:t>Strengths: </a:t>
            </a:r>
            <a:r>
              <a:rPr dirty="0" sz="1100" spc="-20">
                <a:latin typeface="Microsoft Sans Serif"/>
                <a:cs typeface="Microsoft Sans Serif"/>
              </a:rPr>
              <a:t>real-</a:t>
            </a:r>
            <a:r>
              <a:rPr dirty="0" sz="1100" spc="-10">
                <a:latin typeface="Microsoft Sans Serif"/>
                <a:cs typeface="Microsoft Sans Serif"/>
              </a:rPr>
              <a:t>time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visibility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into campus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network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health,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low</a:t>
            </a:r>
            <a:r>
              <a:rPr dirty="0" sz="1100" spc="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deployment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cost,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 a </a:t>
            </a:r>
            <a:r>
              <a:rPr dirty="0" sz="1100" spc="-10">
                <a:latin typeface="Microsoft Sans Serif"/>
                <a:cs typeface="Microsoft Sans Serif"/>
              </a:rPr>
              <a:t>simple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100">
                <a:latin typeface="Microsoft Sans Serif"/>
                <a:cs typeface="Microsoft Sans Serif"/>
              </a:rPr>
              <a:t>interface</a:t>
            </a:r>
            <a:r>
              <a:rPr dirty="0" sz="1100" spc="-7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requiring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no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specialist</a:t>
            </a:r>
            <a:r>
              <a:rPr dirty="0" sz="1100" spc="-1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training.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Limitations: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alerting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currently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relies on</a:t>
            </a:r>
            <a:r>
              <a:rPr dirty="0" sz="1100" spc="-2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fixed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thresholds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1100">
                <a:latin typeface="Microsoft Sans Serif"/>
                <a:cs typeface="Microsoft Sans Serif"/>
              </a:rPr>
              <a:t>rather</a:t>
            </a:r>
            <a:r>
              <a:rPr dirty="0" sz="1100" spc="-5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than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adaptive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baselining,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pilot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deployment</a:t>
            </a:r>
            <a:r>
              <a:rPr dirty="0" sz="1100" spc="-6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covers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subset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of</a:t>
            </a:r>
            <a:r>
              <a:rPr dirty="0" sz="1100" spc="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campus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network</a:t>
            </a: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100">
                <a:latin typeface="Microsoft Sans Serif"/>
                <a:cs typeface="Microsoft Sans Serif"/>
              </a:rPr>
              <a:t>segments</a:t>
            </a:r>
            <a:r>
              <a:rPr dirty="0" sz="1100" spc="-8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rather</a:t>
            </a:r>
            <a:r>
              <a:rPr dirty="0" sz="1100" spc="-5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than the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full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campus.</a:t>
            </a:r>
            <a:endParaRPr sz="11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4.8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Planning,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Roles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Budget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004" y="4928742"/>
            <a:ext cx="391032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latin typeface="Microsoft Sans Serif"/>
                <a:cs typeface="Microsoft Sans Serif"/>
              </a:rPr>
              <a:t>(See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Appendix</a:t>
            </a:r>
            <a:r>
              <a:rPr dirty="0" sz="1100" spc="-6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G</a:t>
            </a:r>
            <a:r>
              <a:rPr dirty="0" sz="1100" spc="-2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for</a:t>
            </a:r>
            <a:r>
              <a:rPr dirty="0" sz="1100" spc="-3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the</a:t>
            </a:r>
            <a:r>
              <a:rPr dirty="0" sz="1100" spc="-35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project</a:t>
            </a:r>
            <a:r>
              <a:rPr dirty="0" sz="1100" spc="-7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timeline</a:t>
            </a:r>
            <a:r>
              <a:rPr dirty="0" sz="1100" spc="-1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and</a:t>
            </a:r>
            <a:r>
              <a:rPr dirty="0" sz="1100" spc="-40">
                <a:latin typeface="Microsoft Sans Serif"/>
                <a:cs typeface="Microsoft Sans Serif"/>
              </a:rPr>
              <a:t> </a:t>
            </a:r>
            <a:r>
              <a:rPr dirty="0" sz="1100">
                <a:latin typeface="Microsoft Sans Serif"/>
                <a:cs typeface="Microsoft Sans Serif"/>
              </a:rPr>
              <a:t>progress</a:t>
            </a:r>
            <a:r>
              <a:rPr dirty="0" sz="1100" spc="-45">
                <a:latin typeface="Microsoft Sans Serif"/>
                <a:cs typeface="Microsoft Sans Serif"/>
              </a:rPr>
              <a:t> </a:t>
            </a:r>
            <a:r>
              <a:rPr dirty="0" sz="1100" spc="-10">
                <a:latin typeface="Microsoft Sans Serif"/>
                <a:cs typeface="Microsoft Sans Serif"/>
              </a:rPr>
              <a:t>records.)</a:t>
            </a:r>
            <a:endParaRPr sz="1100">
              <a:latin typeface="Microsoft Sans Serif"/>
              <a:cs typeface="Microsoft Sans Serif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908354" y="5201157"/>
          <a:ext cx="5793105" cy="1219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3570"/>
                <a:gridCol w="1905000"/>
                <a:gridCol w="1905635"/>
              </a:tblGrid>
              <a:tr h="188595">
                <a:tc>
                  <a:txBody>
                    <a:bodyPr/>
                    <a:lstStyle/>
                    <a:p>
                      <a:pPr algn="ctr" marL="8255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Student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Assigned</a:t>
                      </a:r>
                      <a:r>
                        <a:rPr dirty="0" sz="1100" spc="-6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Responsibility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ts val="129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Actual</a:t>
                      </a:r>
                      <a:r>
                        <a:rPr dirty="0" sz="1100" spc="-3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 b="1">
                          <a:latin typeface="Arial"/>
                          <a:cs typeface="Arial"/>
                        </a:rPr>
                        <a:t>Contribution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95934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Shylesh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Kumar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marR="88265">
                        <a:lnSpc>
                          <a:spcPts val="1320"/>
                        </a:lnSpc>
                        <a:spcBef>
                          <a:spcPts val="30"/>
                        </a:spcBef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Web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dirty="0" sz="110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front</a:t>
                      </a:r>
                      <a:r>
                        <a:rPr dirty="0" sz="11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end,</a:t>
                      </a:r>
                      <a:r>
                        <a:rPr dirty="0" sz="11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REST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dirty="0" sz="11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integration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dirty="0" sz="11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front-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end</a:t>
                      </a:r>
                      <a:r>
                        <a:rPr dirty="0" sz="11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dashboard,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7620" marR="418465">
                        <a:lnSpc>
                          <a:spcPts val="1300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chart</a:t>
                      </a:r>
                      <a:r>
                        <a:rPr dirty="0" sz="11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components</a:t>
                      </a:r>
                      <a:r>
                        <a:rPr dirty="0" sz="11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1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25">
                          <a:latin typeface="Times New Roman"/>
                          <a:cs typeface="Times New Roman"/>
                        </a:rPr>
                        <a:t>API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integration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 algn="ctr" marL="7620">
                        <a:lnSpc>
                          <a:spcPts val="1320"/>
                        </a:lnSpc>
                      </a:pPr>
                      <a:r>
                        <a:rPr dirty="0" sz="1100" spc="-20" b="1">
                          <a:latin typeface="Arial"/>
                          <a:cs typeface="Arial"/>
                        </a:rPr>
                        <a:t>Item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5295">
                        <a:lnSpc>
                          <a:spcPts val="132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Estimated</a:t>
                      </a:r>
                      <a:r>
                        <a:rPr dirty="0" sz="1100" spc="-4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Cost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75310">
                        <a:lnSpc>
                          <a:spcPts val="1320"/>
                        </a:lnSpc>
                      </a:pPr>
                      <a:r>
                        <a:rPr dirty="0" sz="1100" spc="-10" b="1">
                          <a:latin typeface="Arial"/>
                          <a:cs typeface="Arial"/>
                        </a:rPr>
                        <a:t>Actual</a:t>
                      </a:r>
                      <a:r>
                        <a:rPr dirty="0" sz="1100" spc="-5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20" b="1">
                          <a:latin typeface="Arial"/>
                          <a:cs typeface="Arial"/>
                        </a:rPr>
                        <a:t>Cost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marL="6350">
                        <a:lnSpc>
                          <a:spcPts val="126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Cloud/server</a:t>
                      </a:r>
                      <a:r>
                        <a:rPr dirty="0" sz="11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hosting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ts val="1275"/>
                        </a:lnSpc>
                      </a:pP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(development)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2,000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>
                        <a:lnSpc>
                          <a:spcPts val="1265"/>
                        </a:lnSpc>
                      </a:pPr>
                      <a:r>
                        <a:rPr dirty="0" sz="1100">
                          <a:latin typeface="Times New Roman"/>
                          <a:cs typeface="Times New Roman"/>
                        </a:rPr>
                        <a:t>INR</a:t>
                      </a:r>
                      <a:r>
                        <a:rPr dirty="0" sz="11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00" spc="-10">
                          <a:latin typeface="Times New Roman"/>
                          <a:cs typeface="Times New Roman"/>
                        </a:rPr>
                        <a:t>1,800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914400" y="2691383"/>
            <a:ext cx="5739765" cy="33274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90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State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limitations</a:t>
            </a:r>
            <a:r>
              <a:rPr dirty="0" sz="1100" spc="-1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honestly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do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not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claim</a:t>
            </a:r>
            <a:r>
              <a:rPr dirty="0" sz="1100" spc="-11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1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system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is</a:t>
            </a:r>
            <a:r>
              <a:rPr dirty="0" sz="1100" spc="-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perfect.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4443983"/>
            <a:ext cx="5739765" cy="509270"/>
          </a:xfrm>
          <a:prstGeom prst="rect">
            <a:avLst/>
          </a:prstGeom>
          <a:solidFill>
            <a:srgbClr val="EFEF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95"/>
              </a:lnSpc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Gantt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chart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or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milestone</a:t>
            </a:r>
            <a:r>
              <a:rPr dirty="0" sz="1100" spc="-5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table,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roles/contribution</a:t>
            </a:r>
            <a:r>
              <a:rPr dirty="0" sz="1100" spc="-6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table,</a:t>
            </a:r>
            <a:r>
              <a:rPr dirty="0" sz="1100" spc="-7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dirty="0" sz="1100" spc="-5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brief</a:t>
            </a:r>
            <a:r>
              <a:rPr dirty="0" sz="1100" spc="-2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cost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table</a:t>
            </a:r>
            <a:r>
              <a:rPr dirty="0" sz="1100" spc="-2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—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this</a:t>
            </a:r>
            <a:r>
              <a:rPr dirty="0" sz="1100" spc="-3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replaces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old</a:t>
            </a:r>
            <a:r>
              <a:rPr dirty="0" sz="1100" spc="-4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standalone</a:t>
            </a:r>
            <a:r>
              <a:rPr dirty="0" sz="1100" spc="-8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Project</a:t>
            </a:r>
            <a:r>
              <a:rPr dirty="0" sz="1100" spc="-45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i="1">
                <a:solidFill>
                  <a:srgbClr val="444444"/>
                </a:solidFill>
                <a:latin typeface="Arial"/>
                <a:cs typeface="Arial"/>
              </a:rPr>
              <a:t>Management</a:t>
            </a:r>
            <a:r>
              <a:rPr dirty="0" sz="1100" spc="-100" i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100" spc="-10" i="1">
                <a:solidFill>
                  <a:srgbClr val="444444"/>
                </a:solidFill>
                <a:latin typeface="Arial"/>
                <a:cs typeface="Arial"/>
              </a:rPr>
              <a:t>chapter.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6100445" cy="6690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3055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CHAPTER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50" b="1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200">
              <a:latin typeface="Times New Roman"/>
              <a:cs typeface="Times New Roman"/>
            </a:endParaRPr>
          </a:p>
          <a:p>
            <a:pPr algn="ctr" marR="32004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CONCLUSION,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FUTURE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WORK</a:t>
            </a:r>
            <a:r>
              <a:rPr dirty="0" sz="1200" spc="-1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AND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REFLECTION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Conclusion</a:t>
            </a:r>
            <a:endParaRPr sz="1200">
              <a:latin typeface="Times New Roman"/>
              <a:cs typeface="Times New Roman"/>
            </a:endParaRPr>
          </a:p>
          <a:p>
            <a:pPr marL="12700" marR="85725">
              <a:lnSpc>
                <a:spcPct val="110000"/>
              </a:lnSpc>
              <a:spcBef>
                <a:spcPts val="500"/>
              </a:spcBef>
            </a:pP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addressed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lack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real-</a:t>
            </a:r>
            <a:r>
              <a:rPr dirty="0" sz="1100">
                <a:latin typeface="Times New Roman"/>
                <a:cs typeface="Times New Roman"/>
              </a:rPr>
              <a:t>time,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consolidated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visibility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into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SIMATS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Engineering's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campus </a:t>
            </a:r>
            <a:r>
              <a:rPr dirty="0" sz="1100">
                <a:latin typeface="Times New Roman"/>
                <a:cs typeface="Times New Roman"/>
              </a:rPr>
              <a:t>network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health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designing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implementing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30">
                <a:latin typeface="Times New Roman"/>
                <a:cs typeface="Times New Roman"/>
              </a:rPr>
              <a:t>web-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Smart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Campus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Network </a:t>
            </a:r>
            <a:r>
              <a:rPr dirty="0" sz="1100">
                <a:latin typeface="Times New Roman"/>
                <a:cs typeface="Times New Roman"/>
              </a:rPr>
              <a:t>Health</a:t>
            </a:r>
            <a:r>
              <a:rPr dirty="0" sz="1100" spc="-10">
                <a:latin typeface="Times New Roman"/>
                <a:cs typeface="Times New Roman"/>
              </a:rPr>
              <a:t> Monitoring Dashboard.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system's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polling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service,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API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browser-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 end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were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developed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 spc="-10">
                <a:latin typeface="Times New Roman"/>
                <a:cs typeface="Times New Roman"/>
              </a:rPr>
              <a:t>validated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against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live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campus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network,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confirmed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dashboard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detects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visualises </a:t>
            </a:r>
            <a:r>
              <a:rPr dirty="0" sz="1100">
                <a:latin typeface="Times New Roman"/>
                <a:cs typeface="Times New Roman"/>
              </a:rPr>
              <a:t>simulated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link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performance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faults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configured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polling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interval. The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met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stated objectives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provides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campus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team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lightweight,</a:t>
            </a:r>
            <a:r>
              <a:rPr dirty="0" sz="1100" spc="7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cost-</a:t>
            </a:r>
            <a:r>
              <a:rPr dirty="0" sz="1100">
                <a:latin typeface="Times New Roman"/>
                <a:cs typeface="Times New Roman"/>
              </a:rPr>
              <a:t>effective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alternative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commercial </a:t>
            </a:r>
            <a:r>
              <a:rPr dirty="0" sz="1100">
                <a:latin typeface="Times New Roman"/>
                <a:cs typeface="Times New Roman"/>
              </a:rPr>
              <a:t>monitoring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suites.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2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Future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Work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00"/>
              </a:lnSpc>
              <a:spcBef>
                <a:spcPts val="860"/>
              </a:spcBef>
            </a:pPr>
            <a:r>
              <a:rPr dirty="0" sz="1100">
                <a:latin typeface="Times New Roman"/>
                <a:cs typeface="Times New Roman"/>
              </a:rPr>
              <a:t>Future</a:t>
            </a:r>
            <a:r>
              <a:rPr dirty="0" sz="1100" spc="-9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work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includes</a:t>
            </a:r>
            <a:r>
              <a:rPr dirty="0" sz="1100" spc="8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extending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coverage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entire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campus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network,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replacing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fixed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alert</a:t>
            </a:r>
            <a:r>
              <a:rPr dirty="0" sz="1100" spc="50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thresholds with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adaptive/ML-based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anomaly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detection,</a:t>
            </a:r>
            <a:r>
              <a:rPr dirty="0" sz="1100" spc="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adding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role-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access control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multiple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IT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staff,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packaging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system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as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containerised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deployment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easier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rollout to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other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departments.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 startAt="3"/>
              <a:tabLst>
                <a:tab pos="241300" algn="l"/>
              </a:tabLst>
            </a:pPr>
            <a:r>
              <a:rPr dirty="0" sz="1200" spc="-10" b="1">
                <a:latin typeface="Times New Roman"/>
                <a:cs typeface="Times New Roman"/>
              </a:rPr>
              <a:t>Professional</a:t>
            </a:r>
            <a:r>
              <a:rPr dirty="0" sz="1200" spc="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Learning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&amp;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Individual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Reflection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10"/>
              </a:lnSpc>
              <a:spcBef>
                <a:spcPts val="800"/>
              </a:spcBef>
            </a:pPr>
            <a:r>
              <a:rPr dirty="0" sz="1100">
                <a:latin typeface="Times New Roman"/>
                <a:cs typeface="Times New Roman"/>
              </a:rPr>
              <a:t>New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Knowledge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Acquired: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SNMP-based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network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polling,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building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real-time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dashboards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with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ts val="1310"/>
              </a:lnSpc>
            </a:pPr>
            <a:r>
              <a:rPr dirty="0" sz="1100">
                <a:latin typeface="Times New Roman"/>
                <a:cs typeface="Times New Roman"/>
              </a:rPr>
              <a:t>WebSockets,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REST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API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time-</a:t>
            </a:r>
            <a:r>
              <a:rPr dirty="0" sz="1100">
                <a:latin typeface="Times New Roman"/>
                <a:cs typeface="Times New Roman"/>
              </a:rPr>
              <a:t>series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data.</a:t>
            </a:r>
            <a:endParaRPr sz="1100">
              <a:latin typeface="Times New Roman"/>
              <a:cs typeface="Times New Roman"/>
            </a:endParaRPr>
          </a:p>
          <a:p>
            <a:pPr marL="12700" marR="88265">
              <a:lnSpc>
                <a:spcPts val="2180"/>
              </a:lnSpc>
              <a:spcBef>
                <a:spcPts val="145"/>
              </a:spcBef>
            </a:pPr>
            <a:r>
              <a:rPr dirty="0" sz="1100" spc="-10">
                <a:latin typeface="Times New Roman"/>
                <a:cs typeface="Times New Roman"/>
              </a:rPr>
              <a:t>Engineering</a:t>
            </a:r>
            <a:r>
              <a:rPr dirty="0" sz="1100" spc="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&amp;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Professional Skills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Developed: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front-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architecture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state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management,</a:t>
            </a:r>
            <a:r>
              <a:rPr dirty="0" sz="1100" spc="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design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and </a:t>
            </a:r>
            <a:r>
              <a:rPr dirty="0" sz="1100">
                <a:latin typeface="Times New Roman"/>
                <a:cs typeface="Times New Roman"/>
              </a:rPr>
              <a:t>testing,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working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within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Agile</a:t>
            </a:r>
            <a:r>
              <a:rPr dirty="0" sz="1100" spc="-10">
                <a:latin typeface="Times New Roman"/>
                <a:cs typeface="Times New Roman"/>
              </a:rPr>
              <a:t> development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cycle.</a:t>
            </a:r>
            <a:endParaRPr sz="1100">
              <a:latin typeface="Times New Roman"/>
              <a:cs typeface="Times New Roman"/>
            </a:endParaRPr>
          </a:p>
          <a:p>
            <a:pPr lvl="1" marL="447040" marR="91440" indent="-160655">
              <a:lnSpc>
                <a:spcPct val="96500"/>
              </a:lnSpc>
              <a:spcBef>
                <a:spcPts val="770"/>
              </a:spcBef>
              <a:buChar char="•"/>
              <a:tabLst>
                <a:tab pos="448309" algn="l"/>
              </a:tabLst>
            </a:pP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most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difficult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engineering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problem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keeping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dashboard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responsive</a:t>
            </a:r>
            <a:r>
              <a:rPr dirty="0" sz="110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while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continuously </a:t>
            </a:r>
            <a:r>
              <a:rPr dirty="0" sz="1100" spc="-10">
                <a:latin typeface="Times New Roman"/>
                <a:cs typeface="Times New Roman"/>
              </a:rPr>
              <a:t>	</a:t>
            </a:r>
            <a:r>
              <a:rPr dirty="0" sz="1100">
                <a:latin typeface="Times New Roman"/>
                <a:cs typeface="Times New Roman"/>
              </a:rPr>
              <a:t>receiving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live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updates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from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many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devices;</a:t>
            </a:r>
            <a:r>
              <a:rPr dirty="0" sz="1100" spc="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this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solved by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batching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WebSocket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updates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only </a:t>
            </a:r>
            <a:r>
              <a:rPr dirty="0" sz="1100" spc="-20">
                <a:latin typeface="Times New Roman"/>
                <a:cs typeface="Times New Roman"/>
              </a:rPr>
              <a:t>	</a:t>
            </a:r>
            <a:r>
              <a:rPr dirty="0" sz="1100" spc="-10">
                <a:latin typeface="Times New Roman"/>
                <a:cs typeface="Times New Roman"/>
              </a:rPr>
              <a:t>re-</a:t>
            </a:r>
            <a:r>
              <a:rPr dirty="0" sz="1100">
                <a:latin typeface="Times New Roman"/>
                <a:cs typeface="Times New Roman"/>
              </a:rPr>
              <a:t>rendering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charts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changed.</a:t>
            </a:r>
            <a:endParaRPr sz="1100">
              <a:latin typeface="Times New Roman"/>
              <a:cs typeface="Times New Roman"/>
            </a:endParaRPr>
          </a:p>
          <a:p>
            <a:pPr algn="just" lvl="1" marL="448309" marR="44450" indent="-161925">
              <a:lnSpc>
                <a:spcPct val="95500"/>
              </a:lnSpc>
              <a:spcBef>
                <a:spcPts val="515"/>
              </a:spcBef>
              <a:buChar char="•"/>
              <a:tabLst>
                <a:tab pos="448309" algn="l"/>
              </a:tabLst>
            </a:pP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key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decision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made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personally</a:t>
            </a:r>
            <a:r>
              <a:rPr dirty="0" sz="1100" spc="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 use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 spc="-20">
                <a:latin typeface="Times New Roman"/>
                <a:cs typeface="Times New Roman"/>
              </a:rPr>
              <a:t>component-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front-end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framework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(React)</a:t>
            </a:r>
            <a:r>
              <a:rPr dirty="0" sz="1100" spc="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with </a:t>
            </a:r>
            <a:r>
              <a:rPr dirty="0" sz="1100" spc="-50">
                <a:latin typeface="Times New Roman"/>
                <a:cs typeface="Times New Roman"/>
              </a:rPr>
              <a:t>a </a:t>
            </a:r>
            <a:r>
              <a:rPr dirty="0" sz="1100">
                <a:latin typeface="Times New Roman"/>
                <a:cs typeface="Times New Roman"/>
              </a:rPr>
              <a:t>documented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API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contract,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based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evidence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that this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reduced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integration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bugs</a:t>
            </a:r>
            <a:r>
              <a:rPr dirty="0" sz="1100" spc="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when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testing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against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backend.</a:t>
            </a:r>
            <a:endParaRPr sz="1100">
              <a:latin typeface="Times New Roman"/>
              <a:cs typeface="Times New Roman"/>
            </a:endParaRPr>
          </a:p>
          <a:p>
            <a:pPr algn="just" lvl="1" marL="447040" indent="-160655">
              <a:lnSpc>
                <a:spcPts val="1310"/>
              </a:lnSpc>
              <a:spcBef>
                <a:spcPts val="480"/>
              </a:spcBef>
              <a:buChar char="•"/>
              <a:tabLst>
                <a:tab pos="447040" algn="l"/>
              </a:tabLst>
            </a:pP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independently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learned how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to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use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WebSockets</a:t>
            </a:r>
            <a:r>
              <a:rPr dirty="0" sz="1100" spc="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for</a:t>
            </a:r>
            <a:r>
              <a:rPr dirty="0" sz="1100" spc="-2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real-</a:t>
            </a:r>
            <a:r>
              <a:rPr dirty="0" sz="1100">
                <a:latin typeface="Times New Roman"/>
                <a:cs typeface="Times New Roman"/>
              </a:rPr>
              <a:t>time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UI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updates,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which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was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not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covered</a:t>
            </a:r>
            <a:r>
              <a:rPr dirty="0" sz="1100" spc="10">
                <a:latin typeface="Times New Roman"/>
                <a:cs typeface="Times New Roman"/>
              </a:rPr>
              <a:t> </a:t>
            </a:r>
            <a:r>
              <a:rPr dirty="0" sz="1100" spc="-25">
                <a:latin typeface="Times New Roman"/>
                <a:cs typeface="Times New Roman"/>
              </a:rPr>
              <a:t>in</a:t>
            </a:r>
            <a:endParaRPr sz="1100">
              <a:latin typeface="Times New Roman"/>
              <a:cs typeface="Times New Roman"/>
            </a:endParaRPr>
          </a:p>
          <a:p>
            <a:pPr algn="just" marL="448309">
              <a:lnSpc>
                <a:spcPts val="1310"/>
              </a:lnSpc>
            </a:pPr>
            <a:r>
              <a:rPr dirty="0" sz="1100">
                <a:latin typeface="Times New Roman"/>
                <a:cs typeface="Times New Roman"/>
              </a:rPr>
              <a:t>my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coursework,</a:t>
            </a:r>
            <a:r>
              <a:rPr dirty="0" sz="1100" spc="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by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studying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library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documentation</a:t>
            </a:r>
            <a:r>
              <a:rPr dirty="0" sz="1100" spc="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and</a:t>
            </a:r>
            <a:r>
              <a:rPr dirty="0" sz="1100" spc="-4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testing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small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prototypes.</a:t>
            </a:r>
            <a:endParaRPr sz="1100">
              <a:latin typeface="Times New Roman"/>
              <a:cs typeface="Times New Roman"/>
            </a:endParaRPr>
          </a:p>
          <a:p>
            <a:pPr algn="just" lvl="1" marL="448309" marR="33655" indent="-161925">
              <a:lnSpc>
                <a:spcPct val="100000"/>
              </a:lnSpc>
              <a:spcBef>
                <a:spcPts val="480"/>
              </a:spcBef>
              <a:buChar char="•"/>
              <a:tabLst>
                <a:tab pos="448309" algn="l"/>
              </a:tabLst>
            </a:pPr>
            <a:r>
              <a:rPr dirty="0" sz="1100">
                <a:latin typeface="Times New Roman"/>
                <a:cs typeface="Times New Roman"/>
              </a:rPr>
              <a:t>If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repeated,</a:t>
            </a:r>
            <a:r>
              <a:rPr dirty="0" sz="1100" spc="2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would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introduce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automated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front-</a:t>
            </a:r>
            <a:r>
              <a:rPr dirty="0" sz="1100">
                <a:latin typeface="Times New Roman"/>
                <a:cs typeface="Times New Roman"/>
              </a:rPr>
              <a:t>end</a:t>
            </a:r>
            <a:r>
              <a:rPr dirty="0" sz="1100" spc="-1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tests</a:t>
            </a:r>
            <a:r>
              <a:rPr dirty="0" sz="1100" spc="-5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earlier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project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instead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relying</a:t>
            </a:r>
            <a:r>
              <a:rPr dirty="0" sz="1100" spc="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solely </a:t>
            </a:r>
            <a:r>
              <a:rPr dirty="0" sz="1100">
                <a:latin typeface="Times New Roman"/>
                <a:cs typeface="Times New Roman"/>
              </a:rPr>
              <a:t>on</a:t>
            </a:r>
            <a:r>
              <a:rPr dirty="0" sz="1100" spc="-3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manual verification</a:t>
            </a:r>
            <a:r>
              <a:rPr dirty="0" sz="1100" spc="-5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of</a:t>
            </a:r>
            <a:r>
              <a:rPr dirty="0" sz="1100" spc="-40">
                <a:latin typeface="Times New Roman"/>
                <a:cs typeface="Times New Roman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the</a:t>
            </a:r>
            <a:r>
              <a:rPr dirty="0" sz="1100" spc="-55">
                <a:latin typeface="Times New Roman"/>
                <a:cs typeface="Times New Roman"/>
              </a:rPr>
              <a:t> </a:t>
            </a:r>
            <a:r>
              <a:rPr dirty="0" sz="1100" spc="-10">
                <a:latin typeface="Times New Roman"/>
                <a:cs typeface="Times New Roman"/>
              </a:rPr>
              <a:t>dashboard.</a:t>
            </a:r>
            <a:endParaRPr sz="1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3618229" cy="2814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REFERENCES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2810"/>
              </a:lnSpc>
              <a:spcBef>
                <a:spcPts val="200"/>
              </a:spcBef>
            </a:pPr>
            <a:r>
              <a:rPr dirty="0" sz="1200">
                <a:latin typeface="Times New Roman"/>
                <a:cs typeface="Times New Roman"/>
              </a:rPr>
              <a:t>Use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consistent</a:t>
            </a:r>
            <a:r>
              <a:rPr dirty="0" sz="1200" spc="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recognised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referencing </a:t>
            </a:r>
            <a:r>
              <a:rPr dirty="0" sz="1200">
                <a:latin typeface="Times New Roman"/>
                <a:cs typeface="Times New Roman"/>
              </a:rPr>
              <a:t>style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such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as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IEEE. </a:t>
            </a:r>
            <a:r>
              <a:rPr dirty="0" sz="1200" spc="-20">
                <a:latin typeface="Times New Roman"/>
                <a:cs typeface="Times New Roman"/>
              </a:rPr>
              <a:t>All: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09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Literature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0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Standards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Websites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Datasets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22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Software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9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40">
                <a:latin typeface="Times New Roman"/>
                <a:cs typeface="Times New Roman"/>
              </a:rPr>
              <a:t>Open-</a:t>
            </a:r>
            <a:r>
              <a:rPr dirty="0" sz="1200">
                <a:latin typeface="Times New Roman"/>
                <a:cs typeface="Times New Roman"/>
              </a:rPr>
              <a:t>source</a:t>
            </a:r>
            <a:r>
              <a:rPr dirty="0" sz="1200" spc="10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resources</a:t>
            </a:r>
            <a:endParaRPr sz="1200">
              <a:latin typeface="Times New Roman"/>
              <a:cs typeface="Times New Roman"/>
            </a:endParaRPr>
          </a:p>
          <a:p>
            <a:pPr marL="469265" indent="-227965">
              <a:lnSpc>
                <a:spcPct val="100000"/>
              </a:lnSpc>
              <a:spcBef>
                <a:spcPts val="19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200" spc="-10">
                <a:latin typeface="Times New Roman"/>
                <a:cs typeface="Times New Roman"/>
              </a:rPr>
              <a:t>AI-</a:t>
            </a:r>
            <a:r>
              <a:rPr dirty="0" sz="1200" spc="-20">
                <a:latin typeface="Times New Roman"/>
                <a:cs typeface="Times New Roman"/>
              </a:rPr>
              <a:t>assisted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resources,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where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applicable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200">
                <a:latin typeface="Times New Roman"/>
                <a:cs typeface="Times New Roman"/>
              </a:rPr>
              <a:t>shall</a:t>
            </a:r>
            <a:r>
              <a:rPr dirty="0" sz="1200" spc="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appropriately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acknowledged.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5691505" cy="6516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latin typeface="Times New Roman"/>
                <a:cs typeface="Times New Roman"/>
              </a:rPr>
              <a:t>APPENDICES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A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Detailed</a:t>
            </a:r>
            <a:r>
              <a:rPr dirty="0" sz="1200" spc="1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Calculations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B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Engineering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Drawings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Schematics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Source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Code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Code</a:t>
            </a:r>
            <a:r>
              <a:rPr dirty="0" sz="1200" spc="-3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Repository</a:t>
            </a:r>
            <a:r>
              <a:rPr dirty="0" sz="1200" spc="-8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Information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Only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essential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code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excerpts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should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normally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included</a:t>
            </a:r>
            <a:r>
              <a:rPr dirty="0" sz="1200" spc="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report.</a:t>
            </a:r>
            <a:r>
              <a:rPr dirty="0" sz="1200" spc="-7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Complete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source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code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200">
                <a:latin typeface="Times New Roman"/>
                <a:cs typeface="Times New Roman"/>
              </a:rPr>
              <a:t>may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be</a:t>
            </a:r>
            <a:r>
              <a:rPr dirty="0" sz="1200" spc="-20">
                <a:latin typeface="Times New Roman"/>
                <a:cs typeface="Times New Roman"/>
              </a:rPr>
              <a:t> maintained</a:t>
            </a:r>
            <a:r>
              <a:rPr dirty="0" sz="1200" spc="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separately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in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the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approved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repository.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D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Datasheets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 –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Experimental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Raw </a:t>
            </a:r>
            <a:r>
              <a:rPr dirty="0" sz="1200" spc="-20" b="1">
                <a:latin typeface="Times New Roman"/>
                <a:cs typeface="Times New Roman"/>
              </a:rPr>
              <a:t>Data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Appendix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F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3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Ethics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Institutional</a:t>
            </a:r>
            <a:r>
              <a:rPr dirty="0" sz="1200" spc="-14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Approval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>
                <a:latin typeface="Times New Roman"/>
                <a:cs typeface="Times New Roman"/>
              </a:rPr>
              <a:t>Where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Appendix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G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Project Meeting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spc="-20" b="1">
                <a:latin typeface="Times New Roman"/>
                <a:cs typeface="Times New Roman"/>
              </a:rPr>
              <a:t>Progress</a:t>
            </a:r>
            <a:r>
              <a:rPr dirty="0" sz="1200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Records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H</a:t>
            </a:r>
            <a:r>
              <a:rPr dirty="0" sz="1200" spc="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User/Industry</a:t>
            </a:r>
            <a:r>
              <a:rPr dirty="0" sz="1200" spc="-5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Feedback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latin typeface="Times New Roman"/>
                <a:cs typeface="Times New Roman"/>
              </a:rPr>
              <a:t>Where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latin typeface="Times New Roman"/>
                <a:cs typeface="Times New Roman"/>
              </a:rPr>
              <a:t>Appendix</a:t>
            </a:r>
            <a:r>
              <a:rPr dirty="0" sz="1200" spc="-7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</a:t>
            </a:r>
            <a:r>
              <a:rPr dirty="0" sz="1200" spc="-4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Publications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Patents</a:t>
            </a:r>
            <a:r>
              <a:rPr dirty="0" sz="1200" spc="-4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Competitions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/</a:t>
            </a:r>
            <a:r>
              <a:rPr dirty="0" sz="1200" spc="-2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Product </a:t>
            </a:r>
            <a:r>
              <a:rPr dirty="0" sz="1200" spc="-10" b="1">
                <a:latin typeface="Times New Roman"/>
                <a:cs typeface="Times New Roman"/>
              </a:rPr>
              <a:t>Outcomes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dirty="0" sz="1200" spc="-10">
                <a:latin typeface="Times New Roman"/>
                <a:cs typeface="Times New Roman"/>
              </a:rPr>
              <a:t>Where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applicable.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latin typeface="Times New Roman"/>
                <a:cs typeface="Times New Roman"/>
              </a:rPr>
              <a:t>Appendix</a:t>
            </a:r>
            <a:r>
              <a:rPr dirty="0" sz="1200" spc="-6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J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–</a:t>
            </a:r>
            <a:r>
              <a:rPr dirty="0" sz="1200" spc="-1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Individual</a:t>
            </a:r>
            <a:r>
              <a:rPr dirty="0" sz="1200" spc="-50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Contribution</a:t>
            </a:r>
            <a:r>
              <a:rPr dirty="0" sz="1200" spc="-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Evidence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200">
                <a:latin typeface="Times New Roman"/>
                <a:cs typeface="Times New Roman"/>
              </a:rPr>
              <a:t>Mandatory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for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team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projects.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4046"/>
            <a:ext cx="37433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Times New Roman"/>
                <a:cs typeface="Times New Roman"/>
              </a:rPr>
              <a:t>CAPSTONE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PROJECT</a:t>
            </a:r>
            <a:r>
              <a:rPr dirty="0" sz="1200" spc="-25" b="1">
                <a:latin typeface="Times New Roman"/>
                <a:cs typeface="Times New Roman"/>
              </a:rPr>
              <a:t> </a:t>
            </a:r>
            <a:r>
              <a:rPr dirty="0" sz="1200" spc="-10" b="1">
                <a:latin typeface="Times New Roman"/>
                <a:cs typeface="Times New Roman"/>
              </a:rPr>
              <a:t>OUTCOME</a:t>
            </a:r>
            <a:r>
              <a:rPr dirty="0" sz="1200" spc="-65" b="1">
                <a:latin typeface="Times New Roman"/>
                <a:cs typeface="Times New Roman"/>
              </a:rPr>
              <a:t> </a:t>
            </a:r>
            <a:r>
              <a:rPr dirty="0" sz="1200" b="1">
                <a:latin typeface="Times New Roman"/>
                <a:cs typeface="Times New Roman"/>
              </a:rPr>
              <a:t>MAPPING</a:t>
            </a:r>
            <a:r>
              <a:rPr dirty="0" sz="1200" spc="-10" b="1">
                <a:latin typeface="Times New Roman"/>
                <a:cs typeface="Times New Roman"/>
              </a:rPr>
              <a:t> SHEET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354" y="1432559"/>
          <a:ext cx="5794375" cy="4164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7935"/>
                <a:gridCol w="966469"/>
                <a:gridCol w="2211070"/>
              </a:tblGrid>
              <a:tr h="212725">
                <a:tc>
                  <a:txBody>
                    <a:bodyPr/>
                    <a:lstStyle/>
                    <a:p>
                      <a:pPr marL="8890">
                        <a:lnSpc>
                          <a:spcPts val="1395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Outcome</a:t>
                      </a:r>
                      <a:r>
                        <a:rPr dirty="0" sz="12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Evidence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95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dirty="0" sz="12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200" spc="-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 b="1">
                          <a:latin typeface="Times New Roman"/>
                          <a:cs typeface="Times New Roman"/>
                        </a:rPr>
                        <a:t>Area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95"/>
                        </a:lnSpc>
                      </a:pPr>
                      <a:r>
                        <a:rPr dirty="0" sz="1200" b="1">
                          <a:latin typeface="Times New Roman"/>
                          <a:cs typeface="Times New Roman"/>
                        </a:rPr>
                        <a:t>Location</a:t>
                      </a:r>
                      <a:r>
                        <a:rPr dirty="0" sz="12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b="1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 This</a:t>
                      </a:r>
                      <a:r>
                        <a:rPr dirty="0" sz="1200" spc="-7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 b="1">
                          <a:latin typeface="Times New Roman"/>
                          <a:cs typeface="Times New Roman"/>
                        </a:rPr>
                        <a:t>Report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408305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Complex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dirty="0" sz="120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problem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formulation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Ch.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8890">
                        <a:lnSpc>
                          <a:spcPts val="140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design</a:t>
                      </a:r>
                      <a:r>
                        <a:rPr dirty="0" sz="12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dirty="0" sz="12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constraints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40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4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Written/oral</a:t>
                      </a:r>
                      <a:r>
                        <a:rPr dirty="0" sz="12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technical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communication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Whole</a:t>
                      </a:r>
                      <a:r>
                        <a:rPr dirty="0" sz="1200" spc="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report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Viva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Ethics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professional</a:t>
                      </a:r>
                      <a:r>
                        <a:rPr dirty="0" sz="12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responsibility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(3.7)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Teamwork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leadership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(4.8)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Experimentation,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analysis,</a:t>
                      </a:r>
                      <a:r>
                        <a:rPr dirty="0" sz="12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engineering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judgment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(4.3–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4.6)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8890">
                        <a:lnSpc>
                          <a:spcPts val="14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dirty="0" sz="120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acquisition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new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knowledge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40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40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(5.3)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 marL="8890">
                        <a:lnSpc>
                          <a:spcPts val="137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Standards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75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7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(3.2)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8890">
                        <a:lnSpc>
                          <a:spcPts val="142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Sustainability</a:t>
                      </a:r>
                      <a:r>
                        <a:rPr dirty="0" sz="12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89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societal/environmental</a:t>
                      </a:r>
                      <a:r>
                        <a:rPr dirty="0" sz="1200" spc="1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impact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42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SO2/SO4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42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(3.7)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889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Risk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assessment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mitigation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8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SO2/SO4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(3.7)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0660">
                <a:tc>
                  <a:txBody>
                    <a:bodyPr/>
                    <a:lstStyle/>
                    <a:p>
                      <a:pPr marL="889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dirty="0" sz="12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considerations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Relevant</a:t>
                      </a:r>
                      <a:r>
                        <a:rPr dirty="0" sz="12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(3.7)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8890">
                        <a:lnSpc>
                          <a:spcPts val="1380"/>
                        </a:lnSpc>
                      </a:pPr>
                      <a:r>
                        <a:rPr dirty="0" sz="1200" spc="-20">
                          <a:latin typeface="Times New Roman"/>
                          <a:cs typeface="Times New Roman"/>
                        </a:rPr>
                        <a:t>Integrated/system-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dirty="0" sz="1200" spc="1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engineering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80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SO1/SO2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(3.5)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 marL="8890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planning</a:t>
                      </a:r>
                      <a:r>
                        <a:rPr dirty="0" sz="12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dirty="0" sz="12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management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380"/>
                        </a:lnSpc>
                      </a:pP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380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(4.8)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marL="8890">
                        <a:lnSpc>
                          <a:spcPts val="140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Individual</a:t>
                      </a:r>
                      <a:r>
                        <a:rPr dirty="0" sz="12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510">
                        <a:lnSpc>
                          <a:spcPts val="1405"/>
                        </a:lnSpc>
                      </a:pPr>
                      <a:r>
                        <a:rPr dirty="0" sz="1200">
                          <a:latin typeface="Times New Roman"/>
                          <a:cs typeface="Times New Roman"/>
                        </a:rPr>
                        <a:t>SO1–</a:t>
                      </a:r>
                      <a:r>
                        <a:rPr dirty="0" sz="1200" spc="-25">
                          <a:latin typeface="Times New Roman"/>
                          <a:cs typeface="Times New Roman"/>
                        </a:rPr>
                        <a:t>SO7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ts val="1405"/>
                        </a:lnSpc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Contribution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dirty="0" sz="12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12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>
                          <a:latin typeface="Times New Roman"/>
                          <a:cs typeface="Times New Roman"/>
                        </a:rPr>
                        <a:t>Ch.</a:t>
                      </a:r>
                      <a:r>
                        <a:rPr dirty="0" sz="120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200" spc="-10">
                          <a:latin typeface="Times New Roman"/>
                          <a:cs typeface="Times New Roman"/>
                        </a:rPr>
                        <a:t>(4.8)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2026-09-03T17:25:32Z</dcterms:created>
  <dcterms:modified xsi:type="dcterms:W3CDTF">2026-09-03T17:25:32Z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2026-09-03T00:00:00Z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2026-09-03T00:00:00Z</vt:filetime>
  </property>
  <property fmtid="{D5CDD505-2E9C-101B-9397-08002B2CF9AE}" pid="6" name="Producer">
    <vt:lpwstr>www.ilovepdf.com</vt:lpwstr>
  </property>
</Properties>
</file>